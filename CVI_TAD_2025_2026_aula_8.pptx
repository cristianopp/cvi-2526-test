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37"/>
  </p:notesMasterIdLst>
  <p:sldIdLst>
    <p:sldId id="256" r:id="rId2"/>
    <p:sldId id="263" r:id="rId3"/>
    <p:sldId id="347" r:id="rId4"/>
    <p:sldId id="349" r:id="rId5"/>
    <p:sldId id="348" r:id="rId6"/>
    <p:sldId id="350" r:id="rId7"/>
    <p:sldId id="352" r:id="rId8"/>
    <p:sldId id="353" r:id="rId9"/>
    <p:sldId id="351" r:id="rId10"/>
    <p:sldId id="354" r:id="rId11"/>
    <p:sldId id="355" r:id="rId12"/>
    <p:sldId id="356" r:id="rId13"/>
    <p:sldId id="357" r:id="rId14"/>
    <p:sldId id="358" r:id="rId15"/>
    <p:sldId id="359" r:id="rId16"/>
    <p:sldId id="360" r:id="rId17"/>
    <p:sldId id="361" r:id="rId18"/>
    <p:sldId id="362" r:id="rId19"/>
    <p:sldId id="363" r:id="rId20"/>
    <p:sldId id="364" r:id="rId21"/>
    <p:sldId id="365" r:id="rId22"/>
    <p:sldId id="366" r:id="rId23"/>
    <p:sldId id="367" r:id="rId24"/>
    <p:sldId id="368" r:id="rId25"/>
    <p:sldId id="369" r:id="rId26"/>
    <p:sldId id="370" r:id="rId27"/>
    <p:sldId id="371" r:id="rId28"/>
    <p:sldId id="372" r:id="rId29"/>
    <p:sldId id="373" r:id="rId30"/>
    <p:sldId id="374" r:id="rId31"/>
    <p:sldId id="375" r:id="rId32"/>
    <p:sldId id="376" r:id="rId33"/>
    <p:sldId id="377" r:id="rId34"/>
    <p:sldId id="378" r:id="rId35"/>
    <p:sldId id="269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338A"/>
    <a:srgbClr val="007D47"/>
    <a:srgbClr val="E6E4E7"/>
    <a:srgbClr val="D9D9D9"/>
    <a:srgbClr val="212E67"/>
    <a:srgbClr val="C6C8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89" autoAdjust="0"/>
    <p:restoredTop sz="92534"/>
  </p:normalViewPr>
  <p:slideViewPr>
    <p:cSldViewPr snapToGrid="0">
      <p:cViewPr varScale="1">
        <p:scale>
          <a:sx n="139" d="100"/>
          <a:sy n="139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66867F-A318-4B8D-8E53-8EB7858B0017}" type="datetimeFigureOut">
              <a:rPr lang="pt-PT" smtClean="0"/>
              <a:t>03/12/25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6CA24F-9BD0-4A8B-80D0-8BE58925287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17244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933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2F34B815-2561-D66A-C41E-0A34E8DCD0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</p:spPr>
        <p:txBody>
          <a:bodyPr/>
          <a:lstStyle/>
          <a:p>
            <a:r>
              <a:rPr lang="pt-PT" dirty="0"/>
              <a:t>IPG - ESTG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6F4E226-89BD-2591-7BA0-45C961046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pt-PT" dirty="0"/>
              <a:t>Cristiano Patrício | comunicação e visualização da informação | 2025/26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4AB172B-78D3-3A09-A99B-0C586DA28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E74F5005-D886-44EC-A52E-28847065D9B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28783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68440"/>
          </a:xfrm>
        </p:spPr>
        <p:txBody>
          <a:bodyPr/>
          <a:lstStyle>
            <a:lvl1pPr marL="0">
              <a:defRPr>
                <a:latin typeface="Abadi" panose="020B0604020104020204" pitchFamily="34" charset="0"/>
              </a:defRPr>
            </a:lvl1pPr>
          </a:lstStyle>
          <a:p>
            <a:r>
              <a:rPr lang="pt-PT" dirty="0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97280" y="1501254"/>
            <a:ext cx="10058400" cy="4599294"/>
          </a:xfrm>
        </p:spPr>
        <p:txBody>
          <a:bodyPr/>
          <a:lstStyle>
            <a:lvl1pPr>
              <a:defRPr>
                <a:latin typeface="Abadi" panose="020B0604020104020204" pitchFamily="34" charset="0"/>
              </a:defRPr>
            </a:lvl1pPr>
            <a:lvl2pPr>
              <a:buClr>
                <a:srgbClr val="29338A"/>
              </a:buClr>
              <a:buFont typeface="Wingdings" pitchFamily="2" charset="2"/>
              <a:buChar char="§"/>
              <a:defRPr>
                <a:latin typeface="Abadi" panose="020B0604020104020204" pitchFamily="34" charset="0"/>
              </a:defRPr>
            </a:lvl2pPr>
            <a:lvl3pPr>
              <a:buClr>
                <a:srgbClr val="29338A"/>
              </a:buClr>
              <a:buFont typeface="Wingdings" pitchFamily="2" charset="2"/>
              <a:buChar char="§"/>
              <a:defRPr>
                <a:latin typeface="Abadi" panose="020B0604020104020204" pitchFamily="34" charset="0"/>
              </a:defRPr>
            </a:lvl3pPr>
            <a:lvl4pPr>
              <a:buClr>
                <a:srgbClr val="29338A"/>
              </a:buClr>
              <a:buFont typeface="Wingdings" pitchFamily="2" charset="2"/>
              <a:buChar char="§"/>
              <a:defRPr>
                <a:latin typeface="Abadi" panose="020B0604020104020204" pitchFamily="34" charset="0"/>
              </a:defRPr>
            </a:lvl4pPr>
            <a:lvl5pPr>
              <a:buClr>
                <a:srgbClr val="29338A"/>
              </a:buClr>
              <a:buFont typeface="Wingdings" pitchFamily="2" charset="2"/>
              <a:buChar char="§"/>
              <a:defRPr>
                <a:latin typeface="Abadi" panose="020B0604020104020204" pitchFamily="34" charset="0"/>
              </a:defRPr>
            </a:lvl5pPr>
          </a:lstStyle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/>
              <a:t>IPG - ESTG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dirty="0"/>
              <a:t>Cristiano Patrício | comunicação e visualização da informação | 2025/26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smtClean="0"/>
              <a:t>‹#›</a:t>
            </a:fld>
            <a:endParaRPr lang="pt-PT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4797453B-822B-21AC-59F1-AAFE636263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9410" y="234158"/>
            <a:ext cx="1036320" cy="107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740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007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7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IPG - ESTH</a:t>
            </a:r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dirty="0"/>
              <a:t>Cristiano Patrício | Tecnologias de Informação | 2021/22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smtClean="0"/>
              <a:t>‹#›</a:t>
            </a:fld>
            <a:endParaRPr lang="pt-P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952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C1A7089-B1AB-7D04-48B4-1CA2C42930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</p:spPr>
        <p:txBody>
          <a:bodyPr/>
          <a:lstStyle/>
          <a:p>
            <a:r>
              <a:rPr lang="pt-PT" dirty="0"/>
              <a:t>IPG - ESTG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B5D6242-4AB8-16FE-B905-6B523B123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pt-PT" dirty="0"/>
              <a:t>Cristiano Patrício | comunicação e visualização da informação | 2025/26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4EEB76D-7C53-6D8B-C853-758D1397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E74F5005-D886-44EC-A52E-28847065D9B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9408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31E60CC-2974-DEA7-C65B-4679C472AF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</p:spPr>
        <p:txBody>
          <a:bodyPr/>
          <a:lstStyle/>
          <a:p>
            <a:r>
              <a:rPr lang="pt-PT" dirty="0"/>
              <a:t>IPG - ESTG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10AAD43-23AB-4C45-1F95-054B294F7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pt-PT" dirty="0"/>
              <a:t>Cristiano Patrício | comunicação e visualização da informação | 2025/26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0B18747-8DB1-9E45-FEE0-CDF7C7E86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E74F5005-D886-44EC-A52E-28847065D9B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49124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A7C68B4-C01C-34FC-649C-193940A2A9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</p:spPr>
        <p:txBody>
          <a:bodyPr/>
          <a:lstStyle/>
          <a:p>
            <a:r>
              <a:rPr lang="pt-PT" dirty="0"/>
              <a:t>IPG - ESTG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D47B5BB-E331-EBB4-321F-51AE614D5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pt-PT" dirty="0"/>
              <a:t>Cristiano Patrício | comunicação e visualização da informação | 2025/26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F486260-77F1-B34E-EE28-5EC54F83F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E74F5005-D886-44EC-A52E-28847065D9B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04085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933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2933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6D447C3-92C2-8927-53B1-4EBC56BD76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</p:spPr>
        <p:txBody>
          <a:bodyPr/>
          <a:lstStyle/>
          <a:p>
            <a:r>
              <a:rPr lang="pt-PT" dirty="0"/>
              <a:t>IPG - ESTG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0C7670E-3F32-E63A-0271-0B1A7D758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pt-PT" dirty="0"/>
              <a:t>Cristiano Patrício | comunicação e visualização da informação | 2025/26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7D74AC5-74AE-711A-4DE2-1234DA8E1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E74F5005-D886-44EC-A52E-28847065D9B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6448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pt-PT"/>
              <a:t>IPG - ESTH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pt-PT"/>
              <a:t>Cristiano Patrício | Tecnologias de Informação | 2021/22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4F5005-D886-44EC-A52E-28847065D9B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05543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C1410D-EA8F-36B9-FC3B-7D4C186CE24E}"/>
              </a:ext>
            </a:extLst>
          </p:cNvPr>
          <p:cNvSpPr/>
          <p:nvPr userDrawn="1"/>
        </p:nvSpPr>
        <p:spPr>
          <a:xfrm>
            <a:off x="0" y="0"/>
            <a:ext cx="12188825" cy="4953000"/>
          </a:xfrm>
          <a:prstGeom prst="rect">
            <a:avLst/>
          </a:prstGeom>
          <a:solidFill>
            <a:srgbClr val="D9D9D9">
              <a:alpha val="1882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Data Visualization: Communicating Insights Effectively">
            <a:extLst>
              <a:ext uri="{FF2B5EF4-FFF2-40B4-BE49-F238E27FC236}">
                <a16:creationId xmlns:a16="http://schemas.microsoft.com/office/drawing/2014/main" id="{F3C4D809-5E64-6856-3922-6ACDD77C8F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54" y="-221666"/>
            <a:ext cx="10526990" cy="5263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rgbClr val="29338A"/>
          </a:solidFill>
          <a:ln>
            <a:solidFill>
              <a:srgbClr val="212E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 i="0">
                <a:solidFill>
                  <a:srgbClr val="FFFFFF"/>
                </a:solidFill>
                <a:latin typeface="Abadi" panose="020B0604020104020204" pitchFamily="34" charset="77"/>
              </a:defRPr>
            </a:lvl1pPr>
          </a:lstStyle>
          <a:p>
            <a:r>
              <a:rPr lang="pt-PT" dirty="0"/>
              <a:t>Clique para editar o estilo de título do Modelo Global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 b="0" i="0">
                <a:solidFill>
                  <a:srgbClr val="FFFFFF"/>
                </a:solidFill>
                <a:latin typeface="Abadi" panose="020B0604020104020204" pitchFamily="34" charset="7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dirty="0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/>
              <a:t>IPG - ESTG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dirty="0"/>
              <a:t>Cristiano Patrício | comunicação e visualização da informação | 2025/26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13939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IPG - ESTH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dirty="0"/>
              <a:t>Cristiano Patrício | comunicação e visualização da informação | 2025/26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80887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IPG - ESTH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Cristiano Patrício | Tecnologias de Informação | 2021/22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03942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9338A"/>
          </a:solidFill>
          <a:ln>
            <a:solidFill>
              <a:srgbClr val="2933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 flipV="1">
            <a:off x="0" y="6400313"/>
            <a:ext cx="12192001" cy="45719"/>
          </a:xfrm>
          <a:prstGeom prst="rect">
            <a:avLst/>
          </a:prstGeom>
          <a:solidFill>
            <a:srgbClr val="2933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200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PT" dirty="0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22901"/>
            <a:ext cx="10058400" cy="444619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pt-PT"/>
              <a:t>IPG - ESTH</a:t>
            </a:r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pt-PT" dirty="0"/>
              <a:t>Cristiano Patrício | comunicação e visualização da informação | 2025/26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74F5005-D886-44EC-A52E-28847065D9B3}" type="slidenum">
              <a:rPr lang="pt-PT" smtClean="0"/>
              <a:t>‹#›</a:t>
            </a:fld>
            <a:endParaRPr lang="pt-PT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1193532" y="1314763"/>
            <a:ext cx="9588199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754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29338A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29338A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29338A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29338A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3613B281-223C-4D4D-B5DA-AFD605029BC2}"/>
              </a:ext>
            </a:extLst>
          </p:cNvPr>
          <p:cNvSpPr/>
          <p:nvPr/>
        </p:nvSpPr>
        <p:spPr>
          <a:xfrm>
            <a:off x="1626577" y="4457769"/>
            <a:ext cx="10565419" cy="19398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8F42D4B-F264-486A-95A5-E5741814ACDA}"/>
              </a:ext>
            </a:extLst>
          </p:cNvPr>
          <p:cNvSpPr/>
          <p:nvPr/>
        </p:nvSpPr>
        <p:spPr>
          <a:xfrm>
            <a:off x="0" y="0"/>
            <a:ext cx="12192000" cy="1589475"/>
          </a:xfrm>
          <a:prstGeom prst="rect">
            <a:avLst/>
          </a:prstGeom>
          <a:solidFill>
            <a:srgbClr val="29338A"/>
          </a:solidFill>
          <a:ln>
            <a:solidFill>
              <a:srgbClr val="29338A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DCE199-E5A8-407B-BBDA-03E843965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863" y="467981"/>
            <a:ext cx="11246266" cy="730657"/>
          </a:xfrm>
        </p:spPr>
        <p:txBody>
          <a:bodyPr>
            <a:normAutofit fontScale="90000"/>
          </a:bodyPr>
          <a:lstStyle/>
          <a:p>
            <a:pPr algn="ctr"/>
            <a:r>
              <a:rPr lang="pt-PT" sz="48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Comunicação e Visualização da Informação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D96872-DC19-4852-8693-70F0383CC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3009" y="4596316"/>
            <a:ext cx="11484289" cy="894783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PT" b="1" cap="none" spc="0" noProof="0" dirty="0">
                <a:solidFill>
                  <a:schemeClr val="bg1"/>
                </a:solidFill>
                <a:latin typeface="Abadi" panose="020B0604020104020204" pitchFamily="34" charset="0"/>
              </a:rPr>
              <a:t>Instituto Politécnico da Guarda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PT" sz="2000" cap="none" spc="0" noProof="0" dirty="0">
                <a:solidFill>
                  <a:schemeClr val="bg1"/>
                </a:solidFill>
                <a:latin typeface="Abadi" panose="020B0604020104020204" pitchFamily="34" charset="0"/>
              </a:rPr>
              <a:t>Escola Superior de Tecnologia e Gestão</a:t>
            </a:r>
            <a:endParaRPr lang="pt-PT" sz="1800" cap="none" spc="0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8CB7615-FC3D-4C1A-891E-1CB542AE768B}"/>
              </a:ext>
            </a:extLst>
          </p:cNvPr>
          <p:cNvSpPr txBox="1"/>
          <p:nvPr/>
        </p:nvSpPr>
        <p:spPr>
          <a:xfrm>
            <a:off x="4548136" y="1896036"/>
            <a:ext cx="3095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2400" noProof="0" dirty="0">
                <a:latin typeface="Abadi" panose="020B0604020104020204" pitchFamily="34" charset="0"/>
              </a:rPr>
              <a:t>Aula 8 – 03/12/2025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F61C682-ECE3-4BF4-A538-321DD2E90027}"/>
              </a:ext>
            </a:extLst>
          </p:cNvPr>
          <p:cNvSpPr txBox="1"/>
          <p:nvPr/>
        </p:nvSpPr>
        <p:spPr>
          <a:xfrm>
            <a:off x="9821648" y="5043941"/>
            <a:ext cx="736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400" noProof="0" dirty="0">
                <a:latin typeface="Abadi" panose="020B0604020104020204" pitchFamily="34" charset="0"/>
              </a:rPr>
              <a:t>TAD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BE63615-D9B0-45E2-9D71-9EC6F72651FD}"/>
              </a:ext>
            </a:extLst>
          </p:cNvPr>
          <p:cNvSpPr txBox="1"/>
          <p:nvPr/>
        </p:nvSpPr>
        <p:spPr>
          <a:xfrm>
            <a:off x="1800123" y="5883358"/>
            <a:ext cx="4825360" cy="348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pt-PT" sz="1600" b="1" cap="none" spc="0" noProof="0" dirty="0">
                <a:latin typeface="Abadi" panose="020B0604020104020204" pitchFamily="34" charset="0"/>
              </a:rPr>
              <a:t>Docente</a:t>
            </a:r>
            <a:r>
              <a:rPr lang="pt-PT" sz="1600" cap="none" spc="0" noProof="0" dirty="0">
                <a:latin typeface="Abadi" panose="020B0604020104020204" pitchFamily="34" charset="0"/>
              </a:rPr>
              <a:t>: Cristiano Patrício (</a:t>
            </a:r>
            <a:r>
              <a:rPr lang="pt-PT" sz="1600" noProof="0" dirty="0" err="1">
                <a:latin typeface="Abadi" panose="020B0604020104020204" pitchFamily="34" charset="0"/>
              </a:rPr>
              <a:t>cristiano.patricio@ipg.pt</a:t>
            </a:r>
            <a:r>
              <a:rPr lang="pt-PT" sz="1600" noProof="0" dirty="0">
                <a:latin typeface="Abadi" panose="020B0604020104020204" pitchFamily="34" charset="0"/>
              </a:rPr>
              <a:t>)</a:t>
            </a:r>
            <a:endParaRPr lang="pt-PT" sz="1600" cap="none" spc="0" noProof="0" dirty="0">
              <a:latin typeface="Abadi" panose="020B0604020104020204" pitchFamily="34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07963DF-CAA4-427E-8FEC-3C8684DEAA92}"/>
              </a:ext>
            </a:extLst>
          </p:cNvPr>
          <p:cNvSpPr txBox="1"/>
          <p:nvPr/>
        </p:nvSpPr>
        <p:spPr>
          <a:xfrm>
            <a:off x="4359500" y="3027984"/>
            <a:ext cx="34730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2800" noProof="0" dirty="0">
                <a:latin typeface="Abadi" panose="020B0604020104020204" pitchFamily="34" charset="0"/>
              </a:rPr>
              <a:t>Narrativa com Dados</a:t>
            </a:r>
          </a:p>
          <a:p>
            <a:pPr algn="ctr"/>
            <a:r>
              <a:rPr lang="pt-PT" sz="2800" i="1" noProof="0" dirty="0" err="1">
                <a:latin typeface="Abadi" panose="020B0604020104020204" pitchFamily="34" charset="0"/>
              </a:rPr>
              <a:t>Storytelling</a:t>
            </a:r>
            <a:r>
              <a:rPr lang="pt-PT" sz="2800" i="1" noProof="0" dirty="0">
                <a:latin typeface="Abadi" panose="020B0604020104020204" pitchFamily="34" charset="0"/>
              </a:rPr>
              <a:t> </a:t>
            </a:r>
            <a:r>
              <a:rPr lang="pt-PT" sz="2800" i="1" noProof="0" dirty="0" err="1">
                <a:latin typeface="Abadi" panose="020B0604020104020204" pitchFamily="34" charset="0"/>
              </a:rPr>
              <a:t>with</a:t>
            </a:r>
            <a:r>
              <a:rPr lang="pt-PT" sz="2800" i="1" noProof="0" dirty="0">
                <a:latin typeface="Abadi" panose="020B0604020104020204" pitchFamily="34" charset="0"/>
              </a:rPr>
              <a:t> Data</a:t>
            </a:r>
            <a:endParaRPr lang="pt-PT" sz="2000" i="1" noProof="0" dirty="0">
              <a:latin typeface="Abadi" panose="020B0604020104020204" pitchFamily="3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8EB455B-60C7-4A3B-86AA-8A8E8C22463F}"/>
              </a:ext>
            </a:extLst>
          </p:cNvPr>
          <p:cNvSpPr txBox="1"/>
          <p:nvPr/>
        </p:nvSpPr>
        <p:spPr>
          <a:xfrm>
            <a:off x="9095488" y="5469744"/>
            <a:ext cx="2175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800" cap="none" spc="0" noProof="0" dirty="0">
                <a:latin typeface="Abadi" panose="020B0604020104020204" pitchFamily="34" charset="0"/>
              </a:rPr>
              <a:t>Ano letivo 2025/26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BE2289FE-0D75-CB51-305D-DDC2E802C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936" y="4701055"/>
            <a:ext cx="14224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45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240888-18B0-7BBA-E14B-64DB1294F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Agenda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9B3B58F-8FE7-5F90-2C7C-C0DE4444C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29338A"/>
              </a:buClr>
              <a:buFont typeface="Wingdings" panose="05000000000000000000" pitchFamily="2" charset="2"/>
              <a:buChar char="§"/>
            </a:pPr>
            <a:r>
              <a:rPr lang="pt-PT" sz="2400" noProof="0" dirty="0"/>
              <a:t> Narrativa com Dados (</a:t>
            </a:r>
            <a:r>
              <a:rPr lang="pt-PT" sz="2400" i="1" noProof="0" dirty="0" err="1"/>
              <a:t>Storytelling</a:t>
            </a:r>
            <a:r>
              <a:rPr lang="pt-PT" sz="2400" i="1" noProof="0" dirty="0"/>
              <a:t> </a:t>
            </a:r>
            <a:r>
              <a:rPr lang="pt-PT" sz="2400" i="1" noProof="0" dirty="0" err="1"/>
              <a:t>with</a:t>
            </a:r>
            <a:r>
              <a:rPr lang="pt-PT" sz="2400" i="1" noProof="0" dirty="0"/>
              <a:t> Data</a:t>
            </a:r>
            <a:r>
              <a:rPr lang="pt-PT" sz="2400" noProof="0" dirty="0"/>
              <a:t>)	</a:t>
            </a:r>
          </a:p>
          <a:p>
            <a:pPr lvl="1"/>
            <a:r>
              <a:rPr lang="pt-PT" sz="2000" noProof="0" dirty="0"/>
              <a:t>Fases do processo (conceitos, métodos e técnicas)</a:t>
            </a:r>
          </a:p>
          <a:p>
            <a:pPr lvl="1"/>
            <a:r>
              <a:rPr lang="pt-PT" sz="2000" noProof="0" dirty="0"/>
              <a:t>Estudo de caso</a:t>
            </a:r>
          </a:p>
          <a:p>
            <a:pPr lvl="1"/>
            <a:endParaRPr lang="pt-PT" sz="2000" noProof="0" dirty="0"/>
          </a:p>
          <a:p>
            <a:pPr lvl="1"/>
            <a:endParaRPr lang="pt-PT" sz="2000" noProof="0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3A3B4C7-0B11-C491-EE73-1C6CAA50E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5C53EFE-1990-CB3E-CEA4-5A3DC92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BA911B8-7A70-A6A3-8339-ECF4A0D2F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2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1479056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1036E-F4CB-E2B6-ED36-9E9EFEDF4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O processo da narrativa com dados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8A51D-5F08-0DD8-240D-15DA487F2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Clr>
                <a:srgbClr val="29338A"/>
              </a:buClr>
              <a:buFont typeface="+mj-lt"/>
              <a:buAutoNum type="arabicPeriod"/>
            </a:pPr>
            <a:r>
              <a:rPr lang="pt-PT" sz="2800" b="1" noProof="0" dirty="0"/>
              <a:t> Entender o contexto</a:t>
            </a:r>
          </a:p>
          <a:p>
            <a:pPr marL="457200" indent="-457200" algn="just">
              <a:buClr>
                <a:srgbClr val="29338A"/>
              </a:buClr>
              <a:buFont typeface="+mj-lt"/>
              <a:buAutoNum type="arabicPeriod"/>
            </a:pPr>
            <a:r>
              <a:rPr lang="pt-PT" sz="2800" b="1" noProof="0" dirty="0"/>
              <a:t> Escolher uma representação adequada</a:t>
            </a:r>
          </a:p>
          <a:p>
            <a:pPr marL="457200" indent="-457200" algn="just">
              <a:buClr>
                <a:srgbClr val="29338A"/>
              </a:buClr>
              <a:buFont typeface="+mj-lt"/>
              <a:buAutoNum type="arabicPeriod"/>
            </a:pPr>
            <a:r>
              <a:rPr lang="pt-PT" sz="2800" b="1" noProof="0" dirty="0"/>
              <a:t> Eliminar a desordem (ruído visual)</a:t>
            </a:r>
          </a:p>
          <a:p>
            <a:pPr marL="457200" indent="-457200" algn="just">
              <a:buClr>
                <a:srgbClr val="29338A"/>
              </a:buClr>
              <a:buFont typeface="+mj-lt"/>
              <a:buAutoNum type="arabicPeriod"/>
            </a:pPr>
            <a:r>
              <a:rPr lang="pt-PT" sz="2800" b="1" noProof="0" dirty="0"/>
              <a:t> Dirigir a atenção para o que pretendemos</a:t>
            </a:r>
          </a:p>
          <a:p>
            <a:pPr marL="457200" indent="-457200" algn="just">
              <a:buClr>
                <a:srgbClr val="29338A"/>
              </a:buClr>
              <a:buFont typeface="+mj-lt"/>
              <a:buAutoNum type="arabicPeriod"/>
            </a:pPr>
            <a:r>
              <a:rPr lang="pt-PT" sz="2800" b="1" noProof="0" dirty="0"/>
              <a:t> Pensar como um </a:t>
            </a:r>
            <a:r>
              <a:rPr lang="pt-PT" sz="2800" b="1" i="1" noProof="0" dirty="0"/>
              <a:t>designer</a:t>
            </a:r>
          </a:p>
          <a:p>
            <a:pPr marL="457200" indent="-457200" algn="just">
              <a:buClr>
                <a:srgbClr val="29338A"/>
              </a:buClr>
              <a:buFont typeface="+mj-lt"/>
              <a:buAutoNum type="arabicPeriod"/>
            </a:pPr>
            <a:r>
              <a:rPr lang="pt-PT" sz="2800" b="1" i="1" noProof="0" dirty="0"/>
              <a:t> </a:t>
            </a:r>
            <a:r>
              <a:rPr lang="pt-PT" sz="2800" b="1" noProof="0" dirty="0"/>
              <a:t>Contar a história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BDBAD-46FE-6511-62F8-8A9E68DEB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4025B-2678-D0AF-1C7C-AAC9AB959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84A2F-73F0-A8F1-6B74-5FABFD90D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3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4163280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F8AEF-4C46-0851-EFC5-2BEF3BAA7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Estudo de caso</a:t>
            </a:r>
          </a:p>
        </p:txBody>
      </p:sp>
      <p:pic>
        <p:nvPicPr>
          <p:cNvPr id="8" name="Content Placeholder 7" descr="A graph of sales in different colors&#10;&#10;AI-generated content may be incorrect.">
            <a:extLst>
              <a:ext uri="{FF2B5EF4-FFF2-40B4-BE49-F238E27FC236}">
                <a16:creationId xmlns:a16="http://schemas.microsoft.com/office/drawing/2014/main" id="{A40EEAB1-3D9C-F406-61E9-307B0449D3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232" y="1501775"/>
            <a:ext cx="6615862" cy="459898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50FB2-97EC-7598-21D5-15671B607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6DE4B-038C-F801-FB89-B87474D8F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E092B-1813-0828-5CB0-F8DF14A6F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4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3825181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9007D-DF1B-3529-D73E-6EE788832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Lição 1: Entender o contexto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54CB5-988A-CB3B-B8FC-FFCD3E5EE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Identificar a audiência e o que é que precisam de saber, para determinar os dados que iremos usar para ilustrar o nosso caso (“</a:t>
            </a:r>
            <a:r>
              <a:rPr lang="pt-PT" sz="2400" i="1" noProof="0" dirty="0" err="1"/>
              <a:t>Craft</a:t>
            </a:r>
            <a:r>
              <a:rPr lang="pt-PT" sz="2400" i="1" noProof="0" dirty="0"/>
              <a:t> </a:t>
            </a:r>
            <a:r>
              <a:rPr lang="pt-PT" sz="2400" i="1" noProof="0" dirty="0" err="1"/>
              <a:t>the</a:t>
            </a:r>
            <a:r>
              <a:rPr lang="pt-PT" sz="2400" i="1" noProof="0" dirty="0"/>
              <a:t> </a:t>
            </a:r>
            <a:r>
              <a:rPr lang="pt-PT" sz="2400" i="1" noProof="0" dirty="0" err="1"/>
              <a:t>Big</a:t>
            </a:r>
            <a:r>
              <a:rPr lang="pt-PT" sz="2400" i="1" noProof="0" dirty="0"/>
              <a:t> </a:t>
            </a:r>
            <a:r>
              <a:rPr lang="pt-PT" sz="2400" i="1" noProof="0" dirty="0" err="1"/>
              <a:t>Idea</a:t>
            </a:r>
            <a:r>
              <a:rPr lang="pt-PT" sz="2400" noProof="0" dirty="0"/>
              <a:t>”).</a:t>
            </a:r>
          </a:p>
          <a:p>
            <a:pPr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Consideremos o caso de uma empresa que </a:t>
            </a:r>
            <a:r>
              <a:rPr lang="pt-PT" sz="2400" b="1" noProof="0" dirty="0"/>
              <a:t>criou um novo produto (C)</a:t>
            </a:r>
            <a:r>
              <a:rPr lang="pt-PT" sz="2400" noProof="0" dirty="0"/>
              <a:t>, em </a:t>
            </a:r>
            <a:r>
              <a:rPr lang="pt-PT" sz="2400" b="1" noProof="0" dirty="0"/>
              <a:t>2010</a:t>
            </a:r>
            <a:r>
              <a:rPr lang="pt-PT" sz="2400" noProof="0" dirty="0"/>
              <a:t>, e pretende estimar o preço de venda.</a:t>
            </a:r>
          </a:p>
          <a:p>
            <a:pPr lvl="1"/>
            <a:r>
              <a:rPr lang="pt-PT" sz="2200" noProof="0" dirty="0"/>
              <a:t>Qual o preço praticado pelas empresas concorrentes ao longo dos anos?</a:t>
            </a:r>
          </a:p>
          <a:p>
            <a:pPr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</a:t>
            </a:r>
            <a:r>
              <a:rPr lang="pt-PT" sz="2400" b="1" noProof="0" dirty="0"/>
              <a:t>Para</a:t>
            </a:r>
            <a:r>
              <a:rPr lang="pt-PT" sz="2400" noProof="0" dirty="0"/>
              <a:t> </a:t>
            </a:r>
            <a:r>
              <a:rPr lang="pt-PT" sz="2400" b="1" noProof="0" dirty="0">
                <a:highlight>
                  <a:srgbClr val="FFFF00"/>
                </a:highlight>
              </a:rPr>
              <a:t>Quem</a:t>
            </a:r>
            <a:r>
              <a:rPr lang="pt-PT" sz="2400" b="1" noProof="0" dirty="0"/>
              <a:t> vou comunicar?</a:t>
            </a:r>
            <a:r>
              <a:rPr lang="pt-PT" sz="2400" noProof="0" dirty="0"/>
              <a:t> VP do Produto – responsável por estabelecer o preço do produto;</a:t>
            </a:r>
          </a:p>
          <a:p>
            <a:pPr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</a:t>
            </a:r>
            <a:r>
              <a:rPr lang="pt-PT" sz="2400" b="1" noProof="0" dirty="0">
                <a:highlight>
                  <a:srgbClr val="FFFF00"/>
                </a:highlight>
              </a:rPr>
              <a:t>O quê?</a:t>
            </a:r>
            <a:r>
              <a:rPr lang="pt-PT" sz="2400" b="1" noProof="0" dirty="0"/>
              <a:t> </a:t>
            </a:r>
            <a:r>
              <a:rPr lang="pt-PT" sz="2400" noProof="0" dirty="0"/>
              <a:t>Entender como a concorrência definiu o preço ao longo do tempo e recomendar uma gama para o preço;</a:t>
            </a:r>
          </a:p>
          <a:p>
            <a:pPr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</a:t>
            </a:r>
            <a:r>
              <a:rPr lang="pt-PT" sz="2400" b="1" noProof="0" dirty="0">
                <a:highlight>
                  <a:srgbClr val="FFFF00"/>
                </a:highlight>
              </a:rPr>
              <a:t>Como?</a:t>
            </a:r>
            <a:r>
              <a:rPr lang="pt-PT" sz="2400" b="1" noProof="0" dirty="0"/>
              <a:t> </a:t>
            </a:r>
            <a:r>
              <a:rPr lang="pt-PT" sz="2400" noProof="0" dirty="0"/>
              <a:t>Mostrar o preço médio ao longo do tempo para os produtos A, B, C, D e E.</a:t>
            </a:r>
            <a:endParaRPr lang="pt-PT" sz="2400" b="1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3DFD0-4A9C-EEFA-5CDC-529FD0F9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E518E-E4CC-9DD7-B243-C0FA996D2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B60D4-C443-BA67-70B4-477E38C8A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5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121758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C8F75-B6BB-8136-4EAB-05D82F835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24419-994D-0DEE-FE36-806117993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Lição 1: Entender o contexto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FF495-8D9F-F52C-F858-453DCC8E7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800" i="1" noProof="0" dirty="0"/>
              <a:t> </a:t>
            </a:r>
            <a:r>
              <a:rPr lang="pt-PT" sz="2800" i="1" noProof="0" dirty="0" err="1"/>
              <a:t>The</a:t>
            </a:r>
            <a:r>
              <a:rPr lang="pt-PT" sz="2800" i="1" noProof="0" dirty="0"/>
              <a:t> </a:t>
            </a:r>
            <a:r>
              <a:rPr lang="pt-PT" sz="2800" i="1" noProof="0" dirty="0" err="1"/>
              <a:t>Big</a:t>
            </a:r>
            <a:r>
              <a:rPr lang="pt-PT" sz="2800" i="1" noProof="0" dirty="0"/>
              <a:t> Ideia</a:t>
            </a:r>
            <a:endParaRPr lang="pt-PT" sz="2800" b="1" i="1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2D973-8493-8871-7A53-5815CDC91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9ACFA-391F-CE27-7264-DF417D764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CB795-29D0-CDB5-F310-B2933F1FA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6</a:t>
            </a:fld>
            <a:endParaRPr lang="pt-PT" noProof="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F23C2B6-F12A-2784-94DB-4031FF574D66}"/>
              </a:ext>
            </a:extLst>
          </p:cNvPr>
          <p:cNvSpPr/>
          <p:nvPr/>
        </p:nvSpPr>
        <p:spPr>
          <a:xfrm>
            <a:off x="1097280" y="2042675"/>
            <a:ext cx="9793224" cy="1386325"/>
          </a:xfrm>
          <a:prstGeom prst="roundRect">
            <a:avLst>
              <a:gd name="adj" fmla="val 6343"/>
            </a:avLst>
          </a:prstGeom>
          <a:solidFill>
            <a:schemeClr val="bg2"/>
          </a:solidFill>
          <a:ln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PT" sz="24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Com base na análise do preço no mercado ao longo do tempo, para ser competitivo, recomendamos introduzir o nosso produto a um preço de retalho na gama $ABC-$XYZ.</a:t>
            </a:r>
          </a:p>
        </p:txBody>
      </p:sp>
    </p:spTree>
    <p:extLst>
      <p:ext uri="{BB962C8B-B14F-4D97-AF65-F5344CB8AC3E}">
        <p14:creationId xmlns:p14="http://schemas.microsoft.com/office/powerpoint/2010/main" val="436984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5D13D-DF87-D041-C667-925D95693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3-minute </a:t>
            </a:r>
            <a:r>
              <a:rPr lang="pt-PT" noProof="0" dirty="0" err="1"/>
              <a:t>story</a:t>
            </a:r>
            <a:endParaRPr lang="pt-PT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47E6E-14B3-18D0-4DB6-6C8181182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Se dispusesse apenas de 3 minutos para transmitir à audiência o que eles precisam de saber, o que diria?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40FF7-9D7D-DAEF-323E-43E6E36C8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8FE6A-9FED-B50F-87EF-14E524BCA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53D11-8032-A406-A4AC-18CB4D428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7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913841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11B26-2146-BF6A-99E5-B016CBE31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Storyboard</a:t>
            </a:r>
          </a:p>
        </p:txBody>
      </p:sp>
      <p:pic>
        <p:nvPicPr>
          <p:cNvPr id="8" name="Content Placeholder 7" descr="A group of post-it notes&#10;&#10;AI-generated content may be incorrect.">
            <a:extLst>
              <a:ext uri="{FF2B5EF4-FFF2-40B4-BE49-F238E27FC236}">
                <a16:creationId xmlns:a16="http://schemas.microsoft.com/office/drawing/2014/main" id="{CE035FC7-E278-5402-D2D7-657DBA9E02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426" y="1401191"/>
            <a:ext cx="7405147" cy="485114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9A74E-862D-E175-A627-6A637345C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9F25A-BAD8-076E-9D19-EF904223C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14C6-304F-06DA-EBED-836D2C116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8</a:t>
            </a:fld>
            <a:endParaRPr lang="pt-PT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046FB0-23AC-464A-E624-5B402527A32D}"/>
              </a:ext>
            </a:extLst>
          </p:cNvPr>
          <p:cNvSpPr txBox="1"/>
          <p:nvPr/>
        </p:nvSpPr>
        <p:spPr>
          <a:xfrm>
            <a:off x="10113763" y="4842550"/>
            <a:ext cx="18229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400" noProof="0" dirty="0" err="1">
                <a:highlight>
                  <a:srgbClr val="FFFF00"/>
                </a:highlight>
                <a:latin typeface="Abadi" panose="020B0604020104020204" pitchFamily="34" charset="77"/>
              </a:rPr>
              <a:t>The</a:t>
            </a:r>
            <a:r>
              <a:rPr lang="pt-PT" sz="2400" noProof="0" dirty="0">
                <a:highlight>
                  <a:srgbClr val="FFFF00"/>
                </a:highlight>
                <a:latin typeface="Abadi" panose="020B0604020104020204" pitchFamily="34" charset="77"/>
              </a:rPr>
              <a:t> </a:t>
            </a:r>
            <a:r>
              <a:rPr lang="pt-PT" sz="2400" noProof="0" dirty="0" err="1">
                <a:highlight>
                  <a:srgbClr val="FFFF00"/>
                </a:highlight>
                <a:latin typeface="Abadi" panose="020B0604020104020204" pitchFamily="34" charset="77"/>
              </a:rPr>
              <a:t>Big</a:t>
            </a:r>
            <a:r>
              <a:rPr lang="pt-PT" sz="2400" noProof="0" dirty="0">
                <a:highlight>
                  <a:srgbClr val="FFFF00"/>
                </a:highlight>
                <a:latin typeface="Abadi" panose="020B0604020104020204" pitchFamily="34" charset="77"/>
              </a:rPr>
              <a:t> </a:t>
            </a:r>
            <a:r>
              <a:rPr lang="pt-PT" sz="2400" noProof="0" dirty="0" err="1">
                <a:highlight>
                  <a:srgbClr val="FFFF00"/>
                </a:highlight>
                <a:latin typeface="Abadi" panose="020B0604020104020204" pitchFamily="34" charset="77"/>
              </a:rPr>
              <a:t>Idea</a:t>
            </a:r>
            <a:endParaRPr lang="pt-PT" sz="2400" noProof="0" dirty="0">
              <a:highlight>
                <a:srgbClr val="FFFF00"/>
              </a:highlight>
              <a:latin typeface="Abadi" panose="020B0604020104020204" pitchFamily="34" charset="77"/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81401BC3-3FE0-5E78-DC9B-FFDABCFFA1F0}"/>
              </a:ext>
            </a:extLst>
          </p:cNvPr>
          <p:cNvSpPr/>
          <p:nvPr/>
        </p:nvSpPr>
        <p:spPr>
          <a:xfrm rot="10800000">
            <a:off x="9798573" y="4913363"/>
            <a:ext cx="315190" cy="320040"/>
          </a:xfrm>
          <a:prstGeom prst="rightArrow">
            <a:avLst/>
          </a:prstGeom>
          <a:solidFill>
            <a:srgbClr val="29338A"/>
          </a:solidFill>
          <a:ln>
            <a:solidFill>
              <a:srgbClr val="2933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659803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1DDEA-A8F4-EE86-276F-A6397B075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noProof="0" dirty="0"/>
              <a:t>Lição 2: Escolher uma representação adequada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D8EF7-865D-178F-6C20-1470B78E8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01254"/>
            <a:ext cx="4998720" cy="4599294"/>
          </a:xfrm>
        </p:spPr>
        <p:txBody>
          <a:bodyPr>
            <a:normAutofit/>
          </a:bodyPr>
          <a:lstStyle/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Após identificação dos dados a mostrar (</a:t>
            </a:r>
            <a:r>
              <a:rPr lang="pt-PT" sz="24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tendência do preço ao longo dos anos para cada produto</a:t>
            </a:r>
            <a:r>
              <a:rPr lang="pt-PT" sz="2400" noProof="0" dirty="0"/>
              <a:t>), é preciso escolher a melhor forma de os representar.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25C14-FD72-1F48-9E59-2720F5269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F9D5E-4F5D-3C62-3000-2A5321F1F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E1473-8626-8E0D-C96C-A3BCEFFBF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9</a:t>
            </a:fld>
            <a:endParaRPr lang="pt-PT" noProof="0" dirty="0"/>
          </a:p>
        </p:txBody>
      </p:sp>
      <p:pic>
        <p:nvPicPr>
          <p:cNvPr id="7" name="Content Placeholder 7" descr="A graph of sales in different colors&#10;&#10;AI-generated content may be incorrect.">
            <a:extLst>
              <a:ext uri="{FF2B5EF4-FFF2-40B4-BE49-F238E27FC236}">
                <a16:creationId xmlns:a16="http://schemas.microsoft.com/office/drawing/2014/main" id="{32EEB08F-4294-35F3-87E7-E0DCA1326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108" y="1915821"/>
            <a:ext cx="5557376" cy="3863187"/>
          </a:xfrm>
          <a:prstGeom prst="rect">
            <a:avLst/>
          </a:prstGeom>
        </p:spPr>
      </p:pic>
      <p:sp>
        <p:nvSpPr>
          <p:cNvPr id="8" name="Line Callout 1 7">
            <a:extLst>
              <a:ext uri="{FF2B5EF4-FFF2-40B4-BE49-F238E27FC236}">
                <a16:creationId xmlns:a16="http://schemas.microsoft.com/office/drawing/2014/main" id="{097E64AB-B67F-DF91-ADD3-70D739838DE4}"/>
              </a:ext>
            </a:extLst>
          </p:cNvPr>
          <p:cNvSpPr/>
          <p:nvPr/>
        </p:nvSpPr>
        <p:spPr>
          <a:xfrm>
            <a:off x="1097280" y="4123944"/>
            <a:ext cx="2971800" cy="1232802"/>
          </a:xfrm>
          <a:prstGeom prst="borderCallout1">
            <a:avLst>
              <a:gd name="adj1" fmla="val 28274"/>
              <a:gd name="adj2" fmla="val 106160"/>
              <a:gd name="adj3" fmla="val 10595"/>
              <a:gd name="adj4" fmla="val 199349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Abadi" panose="020B0604020104020204" pitchFamily="34" charset="77"/>
              </a:rPr>
              <a:t>A variação das cores nas barras pode ser um </a:t>
            </a:r>
            <a:r>
              <a:rPr lang="pt-PT" sz="2000" noProof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badi" panose="020B0604020104020204" pitchFamily="34" charset="77"/>
              </a:rPr>
              <a:t>element</a:t>
            </a:r>
            <a:r>
              <a:rPr lang="pt-PT" sz="20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Abadi" panose="020B0604020104020204" pitchFamily="34" charset="77"/>
              </a:rPr>
              <a:t> de distração.</a:t>
            </a:r>
          </a:p>
        </p:txBody>
      </p:sp>
    </p:spTree>
    <p:extLst>
      <p:ext uri="{BB962C8B-B14F-4D97-AF65-F5344CB8AC3E}">
        <p14:creationId xmlns:p14="http://schemas.microsoft.com/office/powerpoint/2010/main" val="1620766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0790A-A388-E846-32CF-1A98EEAB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02D33-22C7-9BBD-F161-ADD505ED6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noProof="0" dirty="0"/>
              <a:t>Lição 2: Escolher uma representação adequada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05636-B9EB-5945-9CD7-DC5437788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01254"/>
            <a:ext cx="4998720" cy="4599294"/>
          </a:xfrm>
        </p:spPr>
        <p:txBody>
          <a:bodyPr>
            <a:normAutofit/>
          </a:bodyPr>
          <a:lstStyle/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Após identificação dos dados a mostrar (</a:t>
            </a:r>
            <a:r>
              <a:rPr lang="pt-PT" sz="24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tendência do preço ao longo dos anos para cada produto</a:t>
            </a:r>
            <a:r>
              <a:rPr lang="pt-PT" sz="2400" noProof="0" dirty="0"/>
              <a:t>), é preciso escolher a melhor forma de os representar.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D7568-0D51-F078-D6A3-E68BC8D02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44F0A-1DA4-7E38-C293-02331B375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5CA0F-F44C-6309-51A2-A59BDA52F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10</a:t>
            </a:fld>
            <a:endParaRPr lang="pt-PT" noProof="0" dirty="0"/>
          </a:p>
        </p:txBody>
      </p:sp>
      <p:sp>
        <p:nvSpPr>
          <p:cNvPr id="8" name="Line Callout 1 7">
            <a:extLst>
              <a:ext uri="{FF2B5EF4-FFF2-40B4-BE49-F238E27FC236}">
                <a16:creationId xmlns:a16="http://schemas.microsoft.com/office/drawing/2014/main" id="{F725420C-2B2C-733F-ECBD-700AC45CE331}"/>
              </a:ext>
            </a:extLst>
          </p:cNvPr>
          <p:cNvSpPr/>
          <p:nvPr/>
        </p:nvSpPr>
        <p:spPr>
          <a:xfrm>
            <a:off x="1097280" y="4123944"/>
            <a:ext cx="2971800" cy="1232802"/>
          </a:xfrm>
          <a:prstGeom prst="borderCallout1">
            <a:avLst>
              <a:gd name="adj1" fmla="val 28274"/>
              <a:gd name="adj2" fmla="val 106160"/>
              <a:gd name="adj3" fmla="val 7628"/>
              <a:gd name="adj4" fmla="val 16919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Abadi" panose="020B0604020104020204" pitchFamily="34" charset="77"/>
              </a:rPr>
              <a:t>Após remover as cores, obtemos a seguinte visualização.</a:t>
            </a:r>
          </a:p>
        </p:txBody>
      </p:sp>
      <p:pic>
        <p:nvPicPr>
          <p:cNvPr id="10" name="Picture 9" descr="Graph of retail product prices&#10;&#10;AI-generated content may be incorrect.">
            <a:extLst>
              <a:ext uri="{FF2B5EF4-FFF2-40B4-BE49-F238E27FC236}">
                <a16:creationId xmlns:a16="http://schemas.microsoft.com/office/drawing/2014/main" id="{0A695276-5539-72B1-C7B4-DAB5E5A43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170" y="2238715"/>
            <a:ext cx="5427097" cy="323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372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CFDF1-A12E-DA9F-61B3-69A430F89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BFEF2-7ADB-F5CB-5BE4-8BCC10FF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noProof="0" dirty="0"/>
              <a:t>Lição 2: Escolher uma representação adequada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F7FCC-68D8-5696-CB51-35C3DAF1C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01254"/>
            <a:ext cx="10058400" cy="4599294"/>
          </a:xfrm>
        </p:spPr>
        <p:txBody>
          <a:bodyPr>
            <a:normAutofit/>
          </a:bodyPr>
          <a:lstStyle/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A questão fundamental é: </a:t>
            </a:r>
            <a:r>
              <a:rPr lang="pt-PT" sz="2400" noProof="0" dirty="0">
                <a:highlight>
                  <a:srgbClr val="FFFF00"/>
                </a:highlight>
              </a:rPr>
              <a:t>O que aconteceu quando o produto C foi lançado em 2010?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BB4C-B0E1-B6BA-3581-A0A6E7C49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A3C83-3E40-C673-7C41-F21CF31FA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8E75F-8A11-B0D5-1D43-5B909690A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11</a:t>
            </a:fld>
            <a:endParaRPr lang="pt-PT" noProof="0" dirty="0"/>
          </a:p>
        </p:txBody>
      </p:sp>
      <p:pic>
        <p:nvPicPr>
          <p:cNvPr id="9" name="Picture 8" descr="A graph showing the average retail product price per year&#10;&#10;AI-generated content may be incorrect.">
            <a:extLst>
              <a:ext uri="{FF2B5EF4-FFF2-40B4-BE49-F238E27FC236}">
                <a16:creationId xmlns:a16="http://schemas.microsoft.com/office/drawing/2014/main" id="{3716243B-3B8D-96A4-9721-BD6E78D7D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8643" y="2254876"/>
            <a:ext cx="6266518" cy="3738135"/>
          </a:xfrm>
          <a:prstGeom prst="rect">
            <a:avLst/>
          </a:prstGeom>
        </p:spPr>
      </p:pic>
      <p:sp>
        <p:nvSpPr>
          <p:cNvPr id="8" name="Line Callout 1 7">
            <a:extLst>
              <a:ext uri="{FF2B5EF4-FFF2-40B4-BE49-F238E27FC236}">
                <a16:creationId xmlns:a16="http://schemas.microsoft.com/office/drawing/2014/main" id="{1C90E32C-52ED-1B88-A834-C193087DF882}"/>
              </a:ext>
            </a:extLst>
          </p:cNvPr>
          <p:cNvSpPr/>
          <p:nvPr/>
        </p:nvSpPr>
        <p:spPr>
          <a:xfrm>
            <a:off x="1097280" y="3507542"/>
            <a:ext cx="2971800" cy="1232802"/>
          </a:xfrm>
          <a:prstGeom prst="borderCallout1">
            <a:avLst>
              <a:gd name="adj1" fmla="val 28274"/>
              <a:gd name="adj2" fmla="val 106160"/>
              <a:gd name="adj3" fmla="val 104794"/>
              <a:gd name="adj4" fmla="val 25473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Abadi" panose="020B0604020104020204" pitchFamily="34" charset="77"/>
              </a:rPr>
              <a:t>Enfatizar os anos de 2010 para a frente. </a:t>
            </a:r>
          </a:p>
          <a:p>
            <a:pPr algn="ctr"/>
            <a:r>
              <a:rPr lang="pt-PT" sz="20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Abadi" panose="020B0604020104020204" pitchFamily="34" charset="77"/>
              </a:rPr>
              <a:t>Que técnica foi usada?</a:t>
            </a:r>
          </a:p>
        </p:txBody>
      </p:sp>
    </p:spTree>
    <p:extLst>
      <p:ext uri="{BB962C8B-B14F-4D97-AF65-F5344CB8AC3E}">
        <p14:creationId xmlns:p14="http://schemas.microsoft.com/office/powerpoint/2010/main" val="29101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1F6CD-0496-065D-3665-31D0E8334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0B0C7-3D0C-FE21-B2AC-43F852DCC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noProof="0" dirty="0"/>
              <a:t>Lição 2: Escolher uma representação adequada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B4138-EC3A-56BA-DE37-11E8BEF9D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01254"/>
            <a:ext cx="10058400" cy="4599294"/>
          </a:xfrm>
        </p:spPr>
        <p:txBody>
          <a:bodyPr>
            <a:normAutofit/>
          </a:bodyPr>
          <a:lstStyle/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Dado que estamos interessados em visualizar uma tendência, por que não considerar um gráfico de linhas?</a:t>
            </a:r>
            <a:endParaRPr lang="pt-PT" sz="2400" noProof="0" dirty="0">
              <a:highlight>
                <a:srgbClr val="FFFF00"/>
              </a:highligh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C90F1-2627-A7A3-320C-C00C6B91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531F6-AD99-DE95-BC4E-B76657E82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46B15-7819-7DD3-703F-614DD4BAD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12</a:t>
            </a:fld>
            <a:endParaRPr lang="pt-PT" noProof="0" dirty="0"/>
          </a:p>
        </p:txBody>
      </p:sp>
      <p:pic>
        <p:nvPicPr>
          <p:cNvPr id="10" name="Picture 9" descr="A graph showing the average retail product price per year&#10;&#10;AI-generated content may be incorrect.">
            <a:extLst>
              <a:ext uri="{FF2B5EF4-FFF2-40B4-BE49-F238E27FC236}">
                <a16:creationId xmlns:a16="http://schemas.microsoft.com/office/drawing/2014/main" id="{6DB41BB1-9DA4-69D8-6BB5-4F8EC45C9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077" y="2276627"/>
            <a:ext cx="6637929" cy="3887929"/>
          </a:xfrm>
          <a:prstGeom prst="rect">
            <a:avLst/>
          </a:prstGeom>
        </p:spPr>
      </p:pic>
      <p:sp>
        <p:nvSpPr>
          <p:cNvPr id="8" name="Line Callout 1 7">
            <a:extLst>
              <a:ext uri="{FF2B5EF4-FFF2-40B4-BE49-F238E27FC236}">
                <a16:creationId xmlns:a16="http://schemas.microsoft.com/office/drawing/2014/main" id="{D89D2208-14E1-F031-C354-FD6DD84EBC84}"/>
              </a:ext>
            </a:extLst>
          </p:cNvPr>
          <p:cNvSpPr/>
          <p:nvPr/>
        </p:nvSpPr>
        <p:spPr>
          <a:xfrm>
            <a:off x="1097280" y="2657150"/>
            <a:ext cx="2971800" cy="1786834"/>
          </a:xfrm>
          <a:prstGeom prst="borderCallout1">
            <a:avLst>
              <a:gd name="adj1" fmla="val 28274"/>
              <a:gd name="adj2" fmla="val 106160"/>
              <a:gd name="adj3" fmla="val -3498"/>
              <a:gd name="adj4" fmla="val 131348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noProof="0" dirty="0">
                <a:solidFill>
                  <a:srgbClr val="00B050"/>
                </a:solidFill>
                <a:latin typeface="Abadi" panose="020B0604020104020204" pitchFamily="34" charset="77"/>
              </a:rPr>
              <a:t>Visualização mais clara sobre cada produto.</a:t>
            </a:r>
          </a:p>
          <a:p>
            <a:pPr algn="ctr"/>
            <a:r>
              <a:rPr lang="pt-PT" sz="2000" noProof="0" dirty="0">
                <a:solidFill>
                  <a:srgbClr val="C00000"/>
                </a:solidFill>
                <a:latin typeface="Abadi" panose="020B0604020104020204" pitchFamily="34" charset="77"/>
              </a:rPr>
              <a:t>Difícil comparar os produtos num dado ponto (ano)</a:t>
            </a:r>
          </a:p>
        </p:txBody>
      </p:sp>
    </p:spTree>
    <p:extLst>
      <p:ext uri="{BB962C8B-B14F-4D97-AF65-F5344CB8AC3E}">
        <p14:creationId xmlns:p14="http://schemas.microsoft.com/office/powerpoint/2010/main" val="1299767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94CD9-8312-308B-225A-11EE3AA0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F6B42-1922-5C17-FA59-71408324D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noProof="0" dirty="0"/>
              <a:t>Lição 2: Escolher uma representação adequada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D17B4-4199-FF11-E822-E51F29ACE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01254"/>
            <a:ext cx="10058400" cy="4599294"/>
          </a:xfrm>
        </p:spPr>
        <p:txBody>
          <a:bodyPr>
            <a:normAutofit/>
          </a:bodyPr>
          <a:lstStyle/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Cada produto é representado por um linha de cor diferente.</a:t>
            </a:r>
            <a:endParaRPr lang="pt-PT" sz="2400" noProof="0" dirty="0">
              <a:highlight>
                <a:srgbClr val="FFFF00"/>
              </a:highligh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0E55D-EB98-052B-3DA4-9F705471A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2C51A-4C20-52D1-AC9D-D964C5C52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3CF61-81B6-9C5E-1278-AFB90BDAB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13</a:t>
            </a:fld>
            <a:endParaRPr lang="pt-PT" noProof="0" dirty="0"/>
          </a:p>
        </p:txBody>
      </p:sp>
      <p:pic>
        <p:nvPicPr>
          <p:cNvPr id="9" name="Picture 8" descr="A graph showing the average retail product price per year&#10;&#10;AI-generated content may be incorrect.">
            <a:extLst>
              <a:ext uri="{FF2B5EF4-FFF2-40B4-BE49-F238E27FC236}">
                <a16:creationId xmlns:a16="http://schemas.microsoft.com/office/drawing/2014/main" id="{F1FDDB56-CE71-E280-6C57-9A7DE0172F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776" y="2258568"/>
            <a:ext cx="6474707" cy="3777972"/>
          </a:xfrm>
          <a:prstGeom prst="rect">
            <a:avLst/>
          </a:prstGeom>
        </p:spPr>
      </p:pic>
      <p:sp>
        <p:nvSpPr>
          <p:cNvPr id="8" name="Line Callout 1 7">
            <a:extLst>
              <a:ext uri="{FF2B5EF4-FFF2-40B4-BE49-F238E27FC236}">
                <a16:creationId xmlns:a16="http://schemas.microsoft.com/office/drawing/2014/main" id="{D1364B99-DBB7-A781-C44C-5096B02011E2}"/>
              </a:ext>
            </a:extLst>
          </p:cNvPr>
          <p:cNvSpPr/>
          <p:nvPr/>
        </p:nvSpPr>
        <p:spPr>
          <a:xfrm>
            <a:off x="1097280" y="2657150"/>
            <a:ext cx="2971800" cy="1786834"/>
          </a:xfrm>
          <a:prstGeom prst="borderCallout1">
            <a:avLst>
              <a:gd name="adj1" fmla="val 28274"/>
              <a:gd name="adj2" fmla="val 106160"/>
              <a:gd name="adj3" fmla="val 178171"/>
              <a:gd name="adj4" fmla="val 13781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noProof="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Abadi" panose="020B0604020104020204" pitchFamily="34" charset="77"/>
              </a:rPr>
              <a:t>Melhora a visualização: </a:t>
            </a:r>
            <a:r>
              <a:rPr lang="pt-PT" sz="20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Abadi" panose="020B0604020104020204" pitchFamily="34" charset="77"/>
              </a:rPr>
              <a:t>permite uma comparação clara da tendência dos preços de cada produto ao longo do tempo.</a:t>
            </a:r>
          </a:p>
        </p:txBody>
      </p:sp>
    </p:spTree>
    <p:extLst>
      <p:ext uri="{BB962C8B-B14F-4D97-AF65-F5344CB8AC3E}">
        <p14:creationId xmlns:p14="http://schemas.microsoft.com/office/powerpoint/2010/main" val="2135210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986BF-51EE-9135-5CF0-A904A98F7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71726-0727-CACD-6466-BB6ED95D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noProof="0" dirty="0"/>
              <a:t>Lição 3: Eliminar a desordem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947F5-A9EC-909E-0832-5D9CB65C2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01254"/>
            <a:ext cx="10058400" cy="4599294"/>
          </a:xfrm>
        </p:spPr>
        <p:txBody>
          <a:bodyPr>
            <a:normAutofit/>
          </a:bodyPr>
          <a:lstStyle/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Os gráficos mostrados anteriormente refletem as configurações base dos programas usados para a sua geração. Podemos melhorar os mesmos com as seguintes alterações:</a:t>
            </a:r>
          </a:p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</a:t>
            </a:r>
            <a:r>
              <a:rPr lang="pt-PT" sz="2400" b="1" noProof="0" dirty="0"/>
              <a:t>Não enfatizar o título do gráfico: </a:t>
            </a:r>
            <a:r>
              <a:rPr lang="pt-PT" sz="2400" noProof="0" dirty="0"/>
              <a:t>é necessário, mas não precisa de ser o elemento mais atrativo;</a:t>
            </a:r>
          </a:p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</a:t>
            </a:r>
            <a:r>
              <a:rPr lang="pt-PT" sz="2400" b="1" noProof="0" dirty="0"/>
              <a:t>Remover as linhas de grelha</a:t>
            </a:r>
            <a:r>
              <a:rPr lang="pt-PT" sz="2400" noProof="0" dirty="0"/>
              <a:t>: torna o visual mais “</a:t>
            </a:r>
            <a:r>
              <a:rPr lang="pt-PT" sz="2400" noProof="0" dirty="0" err="1"/>
              <a:t>clean</a:t>
            </a:r>
            <a:r>
              <a:rPr lang="pt-PT" sz="2400" noProof="0" dirty="0"/>
              <a:t>”;</a:t>
            </a:r>
          </a:p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</a:t>
            </a:r>
            <a:r>
              <a:rPr lang="pt-PT" sz="2400" b="1" noProof="0" dirty="0"/>
              <a:t>Tornar as linhas dos eixos dos </a:t>
            </a:r>
            <a:r>
              <a:rPr lang="pt-PT" sz="2400" b="1" noProof="0" dirty="0" err="1"/>
              <a:t>xx</a:t>
            </a:r>
            <a:r>
              <a:rPr lang="pt-PT" sz="2400" b="1" noProof="0" dirty="0"/>
              <a:t> e </a:t>
            </a:r>
            <a:r>
              <a:rPr lang="pt-PT" sz="2400" b="1" noProof="0" dirty="0" err="1"/>
              <a:t>yy</a:t>
            </a:r>
            <a:r>
              <a:rPr lang="pt-PT" sz="2400" b="1" noProof="0" dirty="0"/>
              <a:t> mais subtis;</a:t>
            </a:r>
          </a:p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b="1" noProof="0" dirty="0"/>
              <a:t> Remover as cores das linhas;</a:t>
            </a:r>
          </a:p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b="1" noProof="0" dirty="0"/>
              <a:t> Etiquetar as linhas diretamente.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D6792-4C85-32A9-D9F9-C34B1372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12036-7D92-FCEB-FF56-184CF708A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F1BFC-25BD-CAA8-88C6-2E62DEEC1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14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3164545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960FC-C9A2-9B1F-3A4C-8AE0CB92C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D1248-FEE1-F8A9-E089-DF58D1A6A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noProof="0" dirty="0"/>
              <a:t>Lição 3: Eliminar a desordem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7A3BD-202E-4F74-C8D8-A15588EB3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01254"/>
            <a:ext cx="10058400" cy="4599294"/>
          </a:xfrm>
        </p:spPr>
        <p:txBody>
          <a:bodyPr>
            <a:normAutofit/>
          </a:bodyPr>
          <a:lstStyle/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endParaRPr lang="pt-PT" sz="2400" b="1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DD8A6-3DC2-D309-A80A-19E683CFF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ECD31-D621-47E3-4794-AB2457106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FF6A4-6903-CA8B-0465-30AD641C4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15</a:t>
            </a:fld>
            <a:endParaRPr lang="pt-PT" noProof="0" dirty="0"/>
          </a:p>
        </p:txBody>
      </p:sp>
      <p:pic>
        <p:nvPicPr>
          <p:cNvPr id="8" name="Picture 7" descr="A graph showing the average retail product price per year&#10;&#10;AI-generated content may be incorrect.">
            <a:extLst>
              <a:ext uri="{FF2B5EF4-FFF2-40B4-BE49-F238E27FC236}">
                <a16:creationId xmlns:a16="http://schemas.microsoft.com/office/drawing/2014/main" id="{9AB23071-BAD2-38B7-9EC5-186F28F673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352" y="1501254"/>
            <a:ext cx="8083296" cy="446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151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B5D99-9139-DC02-888C-0EB7664F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Lição 4: Dirigir a atenção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9BE33-B11E-8C2C-9E52-CE2B07783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b="1" noProof="0" dirty="0">
                <a:solidFill>
                  <a:srgbClr val="29338A"/>
                </a:solidFill>
              </a:rPr>
              <a:t> “</a:t>
            </a:r>
            <a:r>
              <a:rPr lang="pt-PT" sz="2400" noProof="0" dirty="0">
                <a:solidFill>
                  <a:srgbClr val="29338A"/>
                </a:solidFill>
              </a:rPr>
              <a:t>Após o lançamento do Produto C em 2010</a:t>
            </a:r>
            <a:r>
              <a:rPr lang="pt-PT" sz="2400" b="1" noProof="0" dirty="0">
                <a:solidFill>
                  <a:srgbClr val="29338A"/>
                </a:solidFill>
              </a:rPr>
              <a:t>, o preço médio dos produtos existentes decresceu.”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BB5D7-366C-82C4-4A93-6388BB6B4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5A5EC-2909-BD01-5A97-BCDFED41C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6323C-A371-9F8D-5A36-6E5872756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16</a:t>
            </a:fld>
            <a:endParaRPr lang="pt-PT" noProof="0" dirty="0"/>
          </a:p>
        </p:txBody>
      </p:sp>
      <p:pic>
        <p:nvPicPr>
          <p:cNvPr id="8" name="Picture 7" descr="A graph showing the average retail product price per year&#10;&#10;AI-generated content may be incorrect.">
            <a:extLst>
              <a:ext uri="{FF2B5EF4-FFF2-40B4-BE49-F238E27FC236}">
                <a16:creationId xmlns:a16="http://schemas.microsoft.com/office/drawing/2014/main" id="{A641D015-4F3D-42E7-1615-1CCF169D0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681" y="2139083"/>
            <a:ext cx="7242048" cy="4004182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CB2B486-4875-CF26-DA9F-3B077EA3E19A}"/>
              </a:ext>
            </a:extLst>
          </p:cNvPr>
          <p:cNvSpPr/>
          <p:nvPr/>
        </p:nvSpPr>
        <p:spPr>
          <a:xfrm>
            <a:off x="1036320" y="3188583"/>
            <a:ext cx="3448441" cy="1955549"/>
          </a:xfrm>
          <a:prstGeom prst="roundRect">
            <a:avLst>
              <a:gd name="adj" fmla="val 1014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400" b="1" i="1" noProof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Preattentive</a:t>
            </a:r>
            <a:r>
              <a:rPr lang="pt-PT" sz="2400" b="1" i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pt-PT" sz="2400" b="1" i="1" noProof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attributes</a:t>
            </a:r>
            <a:r>
              <a:rPr lang="pt-PT" sz="2400" b="1" i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: </a:t>
            </a:r>
            <a:r>
              <a:rPr lang="pt-PT" noProof="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Abadi" panose="020B0604020104020204" pitchFamily="34" charset="0"/>
              </a:rPr>
              <a:t>cor, forma, movimento, localização espacial</a:t>
            </a:r>
            <a:r>
              <a:rPr lang="pt-PT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, orientação, brilho, comprimento, entre outras que se destacam numa imagem.</a:t>
            </a:r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241684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82457-B8FD-E3D9-AF62-657FF4ABF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7AF76-8566-CECA-EAE7-71B6A72FE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Lição 4: Dirigir a atenção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60D7E-7CB7-66D3-4740-87A6C9DF2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b="1" noProof="0" dirty="0">
                <a:solidFill>
                  <a:srgbClr val="29338A"/>
                </a:solidFill>
              </a:rPr>
              <a:t> “</a:t>
            </a:r>
            <a:r>
              <a:rPr lang="pt-PT" sz="2400" noProof="0" dirty="0">
                <a:solidFill>
                  <a:srgbClr val="29338A"/>
                </a:solidFill>
              </a:rPr>
              <a:t>Com o lançamento de um novo Produto neste espaço, é comum verificar um </a:t>
            </a:r>
            <a:r>
              <a:rPr lang="pt-PT" sz="2400" b="1" noProof="0" dirty="0">
                <a:solidFill>
                  <a:srgbClr val="29338A"/>
                </a:solidFill>
              </a:rPr>
              <a:t>aumento</a:t>
            </a:r>
            <a:r>
              <a:rPr lang="pt-PT" sz="2400" noProof="0" dirty="0">
                <a:solidFill>
                  <a:srgbClr val="29338A"/>
                </a:solidFill>
              </a:rPr>
              <a:t> inicial do preço médio, seguindo de um </a:t>
            </a:r>
            <a:r>
              <a:rPr lang="pt-PT" sz="2400" b="1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decréscimo</a:t>
            </a:r>
            <a:r>
              <a:rPr lang="pt-PT" sz="2400" noProof="0" dirty="0">
                <a:solidFill>
                  <a:srgbClr val="29338A"/>
                </a:solidFill>
              </a:rPr>
              <a:t>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A42F-7FED-653B-CB98-FD2E71EFF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1AFA3-E018-B3D0-148E-6F08D6EB7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8307B-4B1F-305E-7324-D0CF40C14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17</a:t>
            </a:fld>
            <a:endParaRPr lang="pt-PT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69DDB4-3076-5529-9F07-DE28FCD5D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871" y="2246587"/>
            <a:ext cx="7295217" cy="40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698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AEF05-E226-9BC1-6DB8-68DEEA10D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085D9-129D-E6EB-EA1A-057D7B1D1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Lição 4: Dirigir a atenção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8D214-ECBE-FB5B-0D34-248741EDF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b="1" noProof="0" dirty="0">
                <a:solidFill>
                  <a:srgbClr val="29338A"/>
                </a:solidFill>
              </a:rPr>
              <a:t> “</a:t>
            </a:r>
            <a:r>
              <a:rPr lang="pt-PT" sz="2400" noProof="0" dirty="0">
                <a:solidFill>
                  <a:srgbClr val="29338A"/>
                </a:solidFill>
              </a:rPr>
              <a:t>Em 2014, os preços convergiram entre os produtos, com um </a:t>
            </a:r>
            <a:r>
              <a:rPr lang="pt-PT" sz="2400" b="1" noProof="0" dirty="0">
                <a:solidFill>
                  <a:srgbClr val="29338A"/>
                </a:solidFill>
              </a:rPr>
              <a:t>preço médio de retalho de $223</a:t>
            </a:r>
            <a:r>
              <a:rPr lang="pt-PT" sz="2400" noProof="0" dirty="0">
                <a:solidFill>
                  <a:srgbClr val="29338A"/>
                </a:solidFill>
              </a:rPr>
              <a:t>, sendo o mínimo de $180 (Produto C) e o máximo de $260 (Produto A).”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8D5EC-0589-CC92-A271-038D0C0E2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7A83A-292F-7DE8-47FC-0737952A5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6278A-1484-311E-8A2D-206C5DB58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18</a:t>
            </a:fld>
            <a:endParaRPr lang="pt-PT" noProof="0" dirty="0"/>
          </a:p>
        </p:txBody>
      </p:sp>
      <p:pic>
        <p:nvPicPr>
          <p:cNvPr id="8" name="Picture 7" descr="Graph of retail product price per year&#10;&#10;AI-generated content may be incorrect.">
            <a:extLst>
              <a:ext uri="{FF2B5EF4-FFF2-40B4-BE49-F238E27FC236}">
                <a16:creationId xmlns:a16="http://schemas.microsoft.com/office/drawing/2014/main" id="{99BED6B6-B340-46BE-907F-967BC16987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483" y="2600473"/>
            <a:ext cx="6659033" cy="368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889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CA007-A6E6-2D9B-0D4A-6E9DF1EB7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Lição 5: Pensar como um </a:t>
            </a:r>
            <a:r>
              <a:rPr lang="pt-PT" i="1" noProof="0" dirty="0"/>
              <a:t>designer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141D9-2178-3B3B-D0A4-28690EBC0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A escolha de uma representação adequada que possibilita um entendimento claro da audiência, bem como todas as técnicas para eliminar ruído visual, fazem parte do processo “</a:t>
            </a:r>
            <a:r>
              <a:rPr lang="pt-PT" sz="2400" i="1" noProof="0" dirty="0" err="1"/>
              <a:t>think</a:t>
            </a:r>
            <a:r>
              <a:rPr lang="pt-PT" sz="2400" i="1" noProof="0" dirty="0"/>
              <a:t> </a:t>
            </a:r>
            <a:r>
              <a:rPr lang="pt-PT" sz="2400" i="1" noProof="0" dirty="0" err="1"/>
              <a:t>like</a:t>
            </a:r>
            <a:r>
              <a:rPr lang="pt-PT" sz="2400" i="1" noProof="0" dirty="0"/>
              <a:t> a designer</a:t>
            </a:r>
            <a:r>
              <a:rPr lang="pt-PT" sz="2400" noProof="0" dirty="0"/>
              <a:t>”.</a:t>
            </a:r>
          </a:p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Podemos melhorar ainda mais o visual através de técnicas de acessibilidade e estética:</a:t>
            </a:r>
          </a:p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</a:t>
            </a:r>
            <a:r>
              <a:rPr lang="pt-PT" sz="2400" b="1" noProof="0" dirty="0"/>
              <a:t>Tornar o gráfico acessível com texto</a:t>
            </a:r>
            <a:r>
              <a:rPr lang="pt-PT" sz="2400" noProof="0" dirty="0"/>
              <a:t>: acrescentar títulos nos eixos e melhorar o título de gráfico.</a:t>
            </a:r>
          </a:p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</a:t>
            </a:r>
            <a:r>
              <a:rPr lang="pt-PT" sz="2400" b="1" noProof="0" dirty="0"/>
              <a:t>Alinhar os elementos para melhorar a estética.</a:t>
            </a:r>
            <a:endParaRPr lang="pt-PT" sz="2400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B5B53-2DB5-0073-CC70-F0F71463F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D74E9-0B24-E17E-844B-C4149E368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FBE15-DA90-2DB5-2AE1-2EAFE583F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19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38482987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DF077-0BEF-D9AF-1634-99C81BB57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3F4BC-CF99-7C47-D3B7-9F17460B7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Lição 5: Pensar como um </a:t>
            </a:r>
            <a:r>
              <a:rPr lang="pt-PT" i="1" noProof="0" dirty="0"/>
              <a:t>designer</a:t>
            </a:r>
          </a:p>
        </p:txBody>
      </p:sp>
      <p:pic>
        <p:nvPicPr>
          <p:cNvPr id="8" name="Content Placeholder 7" descr="A graph showing the number of years&#10;&#10;AI-generated content may be incorrect.">
            <a:extLst>
              <a:ext uri="{FF2B5EF4-FFF2-40B4-BE49-F238E27FC236}">
                <a16:creationId xmlns:a16="http://schemas.microsoft.com/office/drawing/2014/main" id="{4A7A1B70-D225-3F14-26D4-61FB9E4E34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559" y="1477282"/>
            <a:ext cx="7986882" cy="459898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3DD17-C8DF-392F-FC53-D1F04E948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58E40-D27E-9540-1174-8CCD42AF7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AE2BD-5521-6788-CB1E-E440C2A82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20</a:t>
            </a:fld>
            <a:endParaRPr lang="pt-PT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B7D1E8-27EE-FDC0-9ACC-A28B7E930A67}"/>
              </a:ext>
            </a:extLst>
          </p:cNvPr>
          <p:cNvSpPr/>
          <p:nvPr/>
        </p:nvSpPr>
        <p:spPr>
          <a:xfrm>
            <a:off x="3747407" y="5682343"/>
            <a:ext cx="685800" cy="32657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5F2FEB-FF4D-2BA7-5311-D8403DC723E0}"/>
              </a:ext>
            </a:extLst>
          </p:cNvPr>
          <p:cNvSpPr/>
          <p:nvPr/>
        </p:nvSpPr>
        <p:spPr>
          <a:xfrm rot="16200000">
            <a:off x="1663945" y="2579915"/>
            <a:ext cx="1371599" cy="32657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39444971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A4635-A819-4DBF-1492-B70BDA60F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64A298B-B51F-6267-3D5C-11B1B46DE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Finalmente, importa refletir sobre a forma como podemos usar a figura criada como suporte para guiar a audiência na história que pretendemos contar.</a:t>
            </a:r>
          </a:p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dirty="0"/>
              <a:t> Vamos supor que dispomos de apenas </a:t>
            </a:r>
            <a:r>
              <a:rPr lang="pt-PT" sz="2400" b="1" dirty="0"/>
              <a:t>5 minutos para contar a história.</a:t>
            </a:r>
          </a:p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b="1" noProof="0" dirty="0"/>
              <a:t> Objetivos:</a:t>
            </a:r>
          </a:p>
          <a:p>
            <a:pPr lvl="1" algn="just"/>
            <a:r>
              <a:rPr lang="pt-PT" sz="2200" i="1" dirty="0"/>
              <a:t>Entender como os preços mudaram ao longo do tempo num quadro competitivo.</a:t>
            </a:r>
          </a:p>
          <a:p>
            <a:pPr lvl="1" algn="just"/>
            <a:r>
              <a:rPr lang="pt-PT" sz="2200" i="1" noProof="0" dirty="0"/>
              <a:t>Usar esse conhecimento para informa</a:t>
            </a:r>
            <a:r>
              <a:rPr lang="pt-PT" sz="2200" i="1" dirty="0"/>
              <a:t>r acerca do preço do produto</a:t>
            </a:r>
          </a:p>
          <a:p>
            <a:pPr lvl="1" algn="just"/>
            <a:r>
              <a:rPr lang="pt-PT" sz="2200" i="1" noProof="0" dirty="0"/>
              <a:t>No final, é feita uma recomendação.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865C56-877F-618E-84C9-B938FBC68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Lição 6: Contar a história</a:t>
            </a:r>
            <a:endParaRPr lang="pt-PT" i="1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0E591-6F03-DE1B-7D87-66CD4247F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CC80D-D0E2-B9A8-9CB6-A3AB70CD4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EC73C-B9CC-3ABB-A789-A3F98EEB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21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3161125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BA149-740B-E7CA-1EDC-06F7C7965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A8A3B0-7E89-857F-33B1-CEDAFB3CF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Os produtos A e B foram lançados em 2008 a preços superiores</a:t>
            </a:r>
            <a:r>
              <a:rPr lang="pt-PT" sz="2400" dirty="0"/>
              <a:t> a </a:t>
            </a:r>
            <a:r>
              <a:rPr lang="pt-PT" sz="2400" b="1" dirty="0"/>
              <a:t>$360</a:t>
            </a:r>
            <a:r>
              <a:rPr lang="pt-PT" sz="2400" dirty="0"/>
              <a:t>.</a:t>
            </a:r>
            <a:endParaRPr lang="pt-PT" sz="2400" noProof="0" dirty="0"/>
          </a:p>
          <a:p>
            <a:pPr marL="0" indent="0" algn="just">
              <a:buClr>
                <a:srgbClr val="29338A"/>
              </a:buClr>
              <a:buNone/>
            </a:pPr>
            <a:endParaRPr lang="pt-PT" sz="2200" i="1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A0BF71-934B-6DB5-8A71-42D14A2FD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Lição 6: Contar a história</a:t>
            </a:r>
            <a:endParaRPr lang="pt-PT" i="1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EF84C-E771-A7D7-8A1E-055685AA8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6FC37-7876-DD3C-89FF-A12430DD7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F25B6-6FFE-444C-1AF0-8EE81E6E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22</a:t>
            </a:fld>
            <a:endParaRPr lang="pt-PT" noProof="0" dirty="0"/>
          </a:p>
        </p:txBody>
      </p:sp>
      <p:pic>
        <p:nvPicPr>
          <p:cNvPr id="8" name="Picture 7" descr="A graph showing the time of a year&#10;&#10;AI-generated content may be incorrect.">
            <a:extLst>
              <a:ext uri="{FF2B5EF4-FFF2-40B4-BE49-F238E27FC236}">
                <a16:creationId xmlns:a16="http://schemas.microsoft.com/office/drawing/2014/main" id="{1DDD889C-1CD7-E9E6-BE76-08AE210B6D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414" y="2025249"/>
            <a:ext cx="7375171" cy="424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85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EB48A-6F81-C85A-55D1-B6AF438DB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93C3DA-5937-F185-50E5-F4F0FD7BB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Foram tendo preços similares ao longo dos anos, onde o preço do B é consistentemente inferior ao do A.</a:t>
            </a:r>
          </a:p>
          <a:p>
            <a:pPr marL="0" indent="0" algn="just">
              <a:buClr>
                <a:srgbClr val="29338A"/>
              </a:buClr>
              <a:buNone/>
            </a:pPr>
            <a:endParaRPr lang="pt-PT" sz="2200" i="1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059D46-EE5E-1E86-B52D-29AD59694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Lição 6: Contar a história</a:t>
            </a:r>
            <a:endParaRPr lang="pt-PT" i="1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F857D-692A-4F5F-6E8E-55788746E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BE7A0-4776-C2BC-C8B9-56BF93F15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02F15-3CF6-06AB-ECA6-C86A2EF37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23</a:t>
            </a:fld>
            <a:endParaRPr lang="pt-PT" noProof="0" dirty="0"/>
          </a:p>
        </p:txBody>
      </p:sp>
      <p:pic>
        <p:nvPicPr>
          <p:cNvPr id="9" name="Picture 8" descr="A graph showing the number of years&#10;&#10;AI-generated content may be incorrect.">
            <a:extLst>
              <a:ext uri="{FF2B5EF4-FFF2-40B4-BE49-F238E27FC236}">
                <a16:creationId xmlns:a16="http://schemas.microsoft.com/office/drawing/2014/main" id="{B7F4AC3A-91A3-B7DF-8180-CE404B906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208" y="2254889"/>
            <a:ext cx="6990543" cy="402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6217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0AC01-BCB8-2676-F831-4F478EAD3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94ABD7-F74B-A509-E0CD-08805C875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Em 2014, os produtos A e B tinham preços de </a:t>
            </a:r>
            <a:r>
              <a:rPr lang="pt-PT" sz="2400" b="1" noProof="0" dirty="0"/>
              <a:t>$260</a:t>
            </a:r>
            <a:r>
              <a:rPr lang="pt-PT" sz="2400" noProof="0" dirty="0"/>
              <a:t> e </a:t>
            </a:r>
            <a:r>
              <a:rPr lang="pt-PT" sz="2400" b="1" noProof="0" dirty="0"/>
              <a:t>$250</a:t>
            </a:r>
            <a:r>
              <a:rPr lang="pt-PT" sz="2400" noProof="0" dirty="0"/>
              <a:t>, respetivamente.</a:t>
            </a:r>
          </a:p>
          <a:p>
            <a:pPr marL="0" indent="0" algn="just">
              <a:buClr>
                <a:srgbClr val="29338A"/>
              </a:buClr>
              <a:buNone/>
            </a:pPr>
            <a:endParaRPr lang="pt-PT" sz="2200" i="1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78328-3DB0-50EF-D59C-881A46955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Lição 6: Contar a história</a:t>
            </a:r>
            <a:endParaRPr lang="pt-PT" i="1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0CDEE-AC81-9744-6F93-A308C4EB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09344-3A1F-C1C3-C5AA-DD1E43D0D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64178-6987-50EF-01DC-2DB535401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24</a:t>
            </a:fld>
            <a:endParaRPr lang="pt-PT" noProof="0" dirty="0"/>
          </a:p>
        </p:txBody>
      </p:sp>
      <p:pic>
        <p:nvPicPr>
          <p:cNvPr id="8" name="Picture 7" descr="A graph showing the number of years&#10;&#10;AI-generated content may be incorrect.">
            <a:extLst>
              <a:ext uri="{FF2B5EF4-FFF2-40B4-BE49-F238E27FC236}">
                <a16:creationId xmlns:a16="http://schemas.microsoft.com/office/drawing/2014/main" id="{816DF562-3F18-A33A-7FB1-8B3561DD5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453" y="2334983"/>
            <a:ext cx="6967094" cy="401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4906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3C800-04FE-EE4A-D6C2-6C1A7F92C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D8553A9-1EE8-AA20-9535-61F6D0E8F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Os Produtos C, D e E foram lançados posteriormente com </a:t>
            </a:r>
            <a:r>
              <a:rPr lang="pt-PT" sz="2400" b="1" noProof="0" dirty="0"/>
              <a:t>preços muito mais baixos</a:t>
            </a:r>
            <a:r>
              <a:rPr lang="pt-PT" sz="2400" noProof="0" dirty="0"/>
              <a:t>.</a:t>
            </a:r>
          </a:p>
          <a:p>
            <a:pPr marL="0" indent="0" algn="just">
              <a:buClr>
                <a:srgbClr val="29338A"/>
              </a:buClr>
              <a:buNone/>
            </a:pPr>
            <a:endParaRPr lang="pt-PT" sz="2200" i="1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D04ABB-00FA-E87A-3FEE-EDECF9F0A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Lição 6: Contar a história</a:t>
            </a:r>
            <a:endParaRPr lang="pt-PT" i="1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3036A-64E4-98BE-C3F7-562484717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9BBC2-A301-025C-431F-D20C3441D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D84A-6123-7CBF-7890-A43058DD1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25</a:t>
            </a:fld>
            <a:endParaRPr lang="pt-PT" noProof="0" dirty="0"/>
          </a:p>
        </p:txBody>
      </p:sp>
      <p:pic>
        <p:nvPicPr>
          <p:cNvPr id="9" name="Picture 8" descr="A graph showing the number of years and time&#10;&#10;AI-generated content may be incorrect.">
            <a:extLst>
              <a:ext uri="{FF2B5EF4-FFF2-40B4-BE49-F238E27FC236}">
                <a16:creationId xmlns:a16="http://schemas.microsoft.com/office/drawing/2014/main" id="{8E960659-785D-162F-B0A2-C00F75BDB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419" y="2260088"/>
            <a:ext cx="7097162" cy="408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8796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4C152-FEA4-FC76-338A-B91171DCA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BB833E-97FC-7735-1A1B-1330D6F7C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</a:t>
            </a:r>
            <a:r>
              <a:rPr lang="pt-PT" sz="2400" dirty="0"/>
              <a:t>... mas todos </a:t>
            </a:r>
            <a:r>
              <a:rPr lang="pt-PT" sz="2400" b="1" dirty="0"/>
              <a:t>aumentaram de preço </a:t>
            </a:r>
            <a:r>
              <a:rPr lang="pt-PT" sz="2400" dirty="0"/>
              <a:t>desde o seu lançamento.</a:t>
            </a:r>
            <a:endParaRPr lang="pt-PT" sz="2400" noProof="0" dirty="0"/>
          </a:p>
          <a:p>
            <a:pPr marL="0" indent="0" algn="just">
              <a:buClr>
                <a:srgbClr val="29338A"/>
              </a:buClr>
              <a:buNone/>
            </a:pPr>
            <a:endParaRPr lang="pt-PT" sz="2200" i="1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A85B50-BFC2-F52C-1CC9-9099CEF22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Lição 6: Contar a história</a:t>
            </a:r>
            <a:endParaRPr lang="pt-PT" i="1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3046E-437D-EBCF-4DCA-EAE4338F5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6CA2F-B67B-3F49-60B7-ADF69C47C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C98B3-3BA9-7C43-1086-4F2D68331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26</a:t>
            </a:fld>
            <a:endParaRPr lang="pt-PT" noProof="0" dirty="0"/>
          </a:p>
        </p:txBody>
      </p:sp>
      <p:pic>
        <p:nvPicPr>
          <p:cNvPr id="8" name="Picture 7" descr="A graph showing the number of years&#10;&#10;AI-generated content may be incorrect.">
            <a:extLst>
              <a:ext uri="{FF2B5EF4-FFF2-40B4-BE49-F238E27FC236}">
                <a16:creationId xmlns:a16="http://schemas.microsoft.com/office/drawing/2014/main" id="{E8FECE68-E2AA-8246-C475-BBAC62FDC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942399"/>
            <a:ext cx="7772400" cy="440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9442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935D4-74E2-60D5-55E8-8087D2D0A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D05C8DA-F6F9-C4C5-2707-B2872A5D3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</a:t>
            </a:r>
            <a:r>
              <a:rPr lang="pt-PT" sz="2400" dirty="0"/>
              <a:t>De facto, com o lançamento de um novo produto neste mercado, verifica-se um </a:t>
            </a:r>
            <a:r>
              <a:rPr lang="pt-PT" sz="2400" b="1" dirty="0">
                <a:solidFill>
                  <a:srgbClr val="29338A"/>
                </a:solidFill>
              </a:rPr>
              <a:t>aumento de preço inicialmente</a:t>
            </a:r>
            <a:r>
              <a:rPr lang="pt-PT" sz="2400" dirty="0"/>
              <a:t>, seguido de um </a:t>
            </a:r>
            <a:r>
              <a:rPr lang="pt-PT" sz="2400" b="1" dirty="0"/>
              <a:t>decréscimo</a:t>
            </a:r>
            <a:r>
              <a:rPr lang="pt-PT" sz="2400" dirty="0"/>
              <a:t> </a:t>
            </a:r>
            <a:r>
              <a:rPr lang="pt-PT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ao longo do tempo</a:t>
            </a:r>
            <a:r>
              <a:rPr lang="pt-PT" sz="2400" dirty="0"/>
              <a:t>.</a:t>
            </a:r>
            <a:endParaRPr lang="pt-PT" sz="2400" noProof="0" dirty="0"/>
          </a:p>
          <a:p>
            <a:pPr marL="0" indent="0" algn="just">
              <a:buClr>
                <a:srgbClr val="29338A"/>
              </a:buClr>
              <a:buNone/>
            </a:pPr>
            <a:endParaRPr lang="pt-PT" sz="2200" i="1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C9D0E2-E0E9-3102-95E9-269CF43D3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Lição 6: Contar a história</a:t>
            </a:r>
            <a:endParaRPr lang="pt-PT" i="1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74895-F654-4776-306A-08B46A53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56DD0-E66D-F7CD-D88C-E84FEC392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E999D-6658-1C07-F578-EF0F4A028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27</a:t>
            </a:fld>
            <a:endParaRPr lang="pt-PT" noProof="0" dirty="0"/>
          </a:p>
        </p:txBody>
      </p:sp>
      <p:pic>
        <p:nvPicPr>
          <p:cNvPr id="9" name="Picture 8" descr="A graph showing the number of years and numbers&#10;&#10;AI-generated content may be incorrect.">
            <a:extLst>
              <a:ext uri="{FF2B5EF4-FFF2-40B4-BE49-F238E27FC236}">
                <a16:creationId xmlns:a16="http://schemas.microsoft.com/office/drawing/2014/main" id="{6AD24119-A638-4091-F747-B70A62D7C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014" y="2689239"/>
            <a:ext cx="6336932" cy="3590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3600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8A210-5549-A72B-E031-5E1DA8CF7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83B5DB2-677F-8139-C5BB-EF4FE777E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</a:t>
            </a:r>
            <a:r>
              <a:rPr lang="pt-PT" sz="2400" dirty="0"/>
              <a:t>Em 2014, os preços convergiram, situando-se no </a:t>
            </a:r>
            <a:r>
              <a:rPr lang="pt-PT" sz="2400" b="1" dirty="0"/>
              <a:t>preço médio de $223</a:t>
            </a:r>
            <a:r>
              <a:rPr lang="pt-PT" sz="2400" dirty="0"/>
              <a:t>, sendo o preço mínimo de $180 (C) e o preço máximo de $260 (A).</a:t>
            </a:r>
            <a:endParaRPr lang="pt-PT" sz="2400" noProof="0" dirty="0"/>
          </a:p>
          <a:p>
            <a:pPr marL="0" indent="0" algn="just">
              <a:buClr>
                <a:srgbClr val="29338A"/>
              </a:buClr>
              <a:buNone/>
            </a:pPr>
            <a:endParaRPr lang="pt-PT" sz="2200" i="1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555CA-1639-B41A-06C5-027DA7793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Lição 6: Contar a história</a:t>
            </a:r>
            <a:endParaRPr lang="pt-PT" i="1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4D148-F871-74B3-21FC-31DA5133B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2BFB7-A4A2-1763-7F8E-2FCEFD109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86A41-B5FE-1E76-C5E2-C011E5F36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28</a:t>
            </a:fld>
            <a:endParaRPr lang="pt-PT" noProof="0" dirty="0"/>
          </a:p>
        </p:txBody>
      </p:sp>
      <p:pic>
        <p:nvPicPr>
          <p:cNvPr id="8" name="Picture 7" descr="A graph showing the number of years&#10;&#10;AI-generated content may be incorrect.">
            <a:extLst>
              <a:ext uri="{FF2B5EF4-FFF2-40B4-BE49-F238E27FC236}">
                <a16:creationId xmlns:a16="http://schemas.microsoft.com/office/drawing/2014/main" id="{65084FE7-E4B0-A3B1-A53F-091A790C0C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325" y="2318128"/>
            <a:ext cx="7109349" cy="402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8268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5828D-895A-6B72-263B-E4E92871E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FB4E593-6F98-7822-51EE-E37FAD401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pt-PT" sz="2400" noProof="0" dirty="0"/>
              <a:t> </a:t>
            </a:r>
            <a:r>
              <a:rPr lang="pt-PT" sz="2400" dirty="0"/>
              <a:t>Para ser competitivo, recomendamos introduzir o nosso produto </a:t>
            </a:r>
            <a:r>
              <a:rPr lang="pt-PT" sz="2400" i="1" dirty="0"/>
              <a:t>abaixo do preço médio de $223</a:t>
            </a:r>
            <a:r>
              <a:rPr lang="pt-PT" sz="2400" dirty="0"/>
              <a:t>, na </a:t>
            </a:r>
            <a:r>
              <a:rPr lang="pt-PT" sz="2400" b="1" dirty="0"/>
              <a:t>gama de $150-$200</a:t>
            </a:r>
            <a:r>
              <a:rPr lang="pt-PT" sz="2400" dirty="0"/>
              <a:t>.</a:t>
            </a:r>
            <a:endParaRPr lang="pt-PT" sz="2400" noProof="0" dirty="0"/>
          </a:p>
          <a:p>
            <a:pPr marL="0" indent="0" algn="just">
              <a:buClr>
                <a:srgbClr val="29338A"/>
              </a:buClr>
              <a:buNone/>
            </a:pPr>
            <a:endParaRPr lang="pt-PT" sz="2200" i="1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27AD8A-91BE-DF7A-93AD-C21181BEC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Lição 6: Contar a história</a:t>
            </a:r>
            <a:endParaRPr lang="pt-PT" i="1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0CB1E-D4BE-804A-9914-D2B28A3E2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CCABE-C0FD-A8F9-A3B3-12593C576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1B68B-BCF9-E2B4-6812-83715FF80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29</a:t>
            </a:fld>
            <a:endParaRPr lang="pt-PT" noProof="0" dirty="0"/>
          </a:p>
        </p:txBody>
      </p:sp>
      <p:pic>
        <p:nvPicPr>
          <p:cNvPr id="9" name="Picture 8" descr="A graph showing the number of years&#10;&#10;AI-generated content may be incorrect.">
            <a:extLst>
              <a:ext uri="{FF2B5EF4-FFF2-40B4-BE49-F238E27FC236}">
                <a16:creationId xmlns:a16="http://schemas.microsoft.com/office/drawing/2014/main" id="{40150C78-D7C7-9914-8618-658710940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372" y="2308633"/>
            <a:ext cx="6893255" cy="394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8991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7A5D7-DDA9-8841-DE58-F0ABAEFDC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CB2A4-1A4F-DDCB-47D1-4438E43E9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en-US" sz="2400" dirty="0"/>
              <a:t> </a:t>
            </a:r>
            <a:r>
              <a:rPr lang="en-US" sz="2400" dirty="0" err="1"/>
              <a:t>Pudemos</a:t>
            </a:r>
            <a:r>
              <a:rPr lang="en-US" sz="2400" dirty="0"/>
              <a:t> </a:t>
            </a:r>
            <a:r>
              <a:rPr lang="en-US" sz="2400" dirty="0" err="1"/>
              <a:t>compreender</a:t>
            </a:r>
            <a:r>
              <a:rPr lang="en-US" sz="2400" dirty="0"/>
              <a:t> o </a:t>
            </a:r>
            <a:r>
              <a:rPr lang="en-US" sz="2400" dirty="0" err="1"/>
              <a:t>processo</a:t>
            </a:r>
            <a:r>
              <a:rPr lang="en-US" sz="2400" dirty="0"/>
              <a:t> de </a:t>
            </a:r>
            <a:r>
              <a:rPr lang="en-US" sz="2400" i="1" dirty="0"/>
              <a:t>storytelling</a:t>
            </a:r>
            <a:r>
              <a:rPr lang="en-US" sz="2400" dirty="0"/>
              <a:t> com dados </a:t>
            </a:r>
            <a:r>
              <a:rPr lang="en-US" sz="2400" dirty="0" err="1"/>
              <a:t>desde</a:t>
            </a:r>
            <a:r>
              <a:rPr lang="en-US" sz="2400" dirty="0"/>
              <a:t> o </a:t>
            </a:r>
            <a:r>
              <a:rPr lang="en-US" sz="2400" dirty="0" err="1"/>
              <a:t>início</a:t>
            </a:r>
            <a:r>
              <a:rPr lang="en-US" sz="2400" dirty="0"/>
              <a:t> </a:t>
            </a:r>
            <a:r>
              <a:rPr lang="en-US" sz="2400" dirty="0" err="1"/>
              <a:t>até</a:t>
            </a:r>
            <a:r>
              <a:rPr lang="en-US" sz="2400" dirty="0"/>
              <a:t> </a:t>
            </a:r>
            <a:r>
              <a:rPr lang="en-US" sz="2400" dirty="0" err="1"/>
              <a:t>ao</a:t>
            </a:r>
            <a:r>
              <a:rPr lang="en-US" sz="2400" dirty="0"/>
              <a:t> final;</a:t>
            </a:r>
          </a:p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en-US" sz="2400" dirty="0"/>
              <a:t> </a:t>
            </a:r>
            <a:r>
              <a:rPr lang="en-US" sz="2400" dirty="0" err="1"/>
              <a:t>Inicialmente</a:t>
            </a:r>
            <a:r>
              <a:rPr lang="en-US" sz="2400" dirty="0"/>
              <a:t>, </a:t>
            </a:r>
            <a:r>
              <a:rPr lang="en-US" sz="2400" dirty="0" err="1"/>
              <a:t>entendemos</a:t>
            </a:r>
            <a:r>
              <a:rPr lang="en-US" sz="2400" dirty="0"/>
              <a:t> o </a:t>
            </a:r>
            <a:r>
              <a:rPr lang="en-US" sz="2400" dirty="0" err="1"/>
              <a:t>contexto</a:t>
            </a:r>
            <a:r>
              <a:rPr lang="en-US" sz="2400" dirty="0"/>
              <a:t>;</a:t>
            </a:r>
          </a:p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en-US" sz="2400" dirty="0"/>
              <a:t> </a:t>
            </a:r>
            <a:r>
              <a:rPr lang="en-US" sz="2400" dirty="0" err="1"/>
              <a:t>Depois</a:t>
            </a:r>
            <a:r>
              <a:rPr lang="en-US" sz="2400" dirty="0"/>
              <a:t>, </a:t>
            </a:r>
            <a:r>
              <a:rPr lang="en-US" sz="2400" dirty="0" err="1"/>
              <a:t>escolhemos</a:t>
            </a:r>
            <a:r>
              <a:rPr lang="en-US" sz="2400" dirty="0"/>
              <a:t>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representação</a:t>
            </a:r>
            <a:r>
              <a:rPr lang="en-US" sz="2400" dirty="0"/>
              <a:t> </a:t>
            </a:r>
            <a:r>
              <a:rPr lang="en-US" sz="2400" dirty="0" err="1"/>
              <a:t>adequada</a:t>
            </a:r>
            <a:r>
              <a:rPr lang="en-US" sz="2400" dirty="0"/>
              <a:t>;</a:t>
            </a:r>
          </a:p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en-US" sz="2400" dirty="0"/>
              <a:t> </a:t>
            </a:r>
            <a:r>
              <a:rPr lang="en-US" sz="2400" dirty="0" err="1"/>
              <a:t>Identificámos</a:t>
            </a:r>
            <a:r>
              <a:rPr lang="en-US" sz="2400" dirty="0"/>
              <a:t> </a:t>
            </a:r>
            <a:r>
              <a:rPr lang="en-US" sz="2400" dirty="0" err="1"/>
              <a:t>os</a:t>
            </a:r>
            <a:r>
              <a:rPr lang="en-US" sz="2400" dirty="0"/>
              <a:t> </a:t>
            </a:r>
            <a:r>
              <a:rPr lang="en-US" sz="2400" dirty="0" err="1"/>
              <a:t>aspetos</a:t>
            </a:r>
            <a:r>
              <a:rPr lang="en-US" sz="2400" dirty="0"/>
              <a:t> </a:t>
            </a:r>
            <a:r>
              <a:rPr lang="en-US" sz="2400" dirty="0" err="1"/>
              <a:t>ruídosos</a:t>
            </a:r>
            <a:r>
              <a:rPr lang="en-US" sz="2400" dirty="0"/>
              <a:t> para </a:t>
            </a:r>
            <a:r>
              <a:rPr lang="en-US" sz="2400" dirty="0" err="1"/>
              <a:t>eliminar</a:t>
            </a:r>
            <a:r>
              <a:rPr lang="en-US" sz="2400" dirty="0"/>
              <a:t>;</a:t>
            </a:r>
          </a:p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en-US" sz="2400" dirty="0"/>
              <a:t> </a:t>
            </a:r>
            <a:r>
              <a:rPr lang="en-US" sz="2400" dirty="0" err="1"/>
              <a:t>Usámos</a:t>
            </a:r>
            <a:r>
              <a:rPr lang="en-US" sz="2400" dirty="0"/>
              <a:t> </a:t>
            </a:r>
            <a:r>
              <a:rPr lang="en-US" sz="2400" dirty="0" err="1"/>
              <a:t>atributos</a:t>
            </a:r>
            <a:r>
              <a:rPr lang="en-US" sz="2400" dirty="0"/>
              <a:t> </a:t>
            </a:r>
            <a:r>
              <a:rPr lang="en-US" sz="2400" i="1" dirty="0" err="1"/>
              <a:t>preattentive</a:t>
            </a:r>
            <a:r>
              <a:rPr lang="en-US" sz="2400" dirty="0"/>
              <a:t> para </a:t>
            </a:r>
            <a:r>
              <a:rPr lang="en-US" sz="2400" dirty="0" err="1"/>
              <a:t>dirigir</a:t>
            </a:r>
            <a:r>
              <a:rPr lang="en-US" sz="2400" dirty="0"/>
              <a:t> a </a:t>
            </a:r>
            <a:r>
              <a:rPr lang="en-US" sz="2400" dirty="0" err="1"/>
              <a:t>atenção</a:t>
            </a:r>
            <a:r>
              <a:rPr lang="en-US" sz="2400" dirty="0"/>
              <a:t> para </a:t>
            </a:r>
            <a:r>
              <a:rPr lang="en-US" sz="2400" dirty="0" err="1"/>
              <a:t>onde</a:t>
            </a:r>
            <a:r>
              <a:rPr lang="en-US" sz="2400" dirty="0"/>
              <a:t> </a:t>
            </a:r>
            <a:r>
              <a:rPr lang="en-US" sz="2400" dirty="0" err="1"/>
              <a:t>queremos</a:t>
            </a:r>
            <a:r>
              <a:rPr lang="en-US" sz="2400" dirty="0"/>
              <a:t> </a:t>
            </a:r>
            <a:r>
              <a:rPr lang="en-US" sz="2400" dirty="0" err="1"/>
              <a:t>que</a:t>
            </a:r>
            <a:r>
              <a:rPr lang="en-US" sz="2400" dirty="0"/>
              <a:t> a </a:t>
            </a:r>
            <a:r>
              <a:rPr lang="en-US" sz="2400" dirty="0" err="1"/>
              <a:t>audiência</a:t>
            </a:r>
            <a:r>
              <a:rPr lang="en-US" sz="2400" dirty="0"/>
              <a:t> </a:t>
            </a:r>
            <a:r>
              <a:rPr lang="en-US" sz="2400" dirty="0" err="1"/>
              <a:t>foque</a:t>
            </a:r>
            <a:r>
              <a:rPr lang="en-US" sz="2400" dirty="0"/>
              <a:t> a </a:t>
            </a:r>
            <a:r>
              <a:rPr lang="en-US" sz="2400" dirty="0" err="1"/>
              <a:t>sua</a:t>
            </a:r>
            <a:r>
              <a:rPr lang="en-US" sz="2400" dirty="0"/>
              <a:t> </a:t>
            </a:r>
            <a:r>
              <a:rPr lang="en-US" sz="2400" dirty="0" err="1"/>
              <a:t>atenção</a:t>
            </a:r>
            <a:r>
              <a:rPr lang="en-US" sz="2400" dirty="0"/>
              <a:t>;</a:t>
            </a:r>
          </a:p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en-US" sz="2400" dirty="0"/>
              <a:t> Melhorámos a </a:t>
            </a:r>
            <a:r>
              <a:rPr lang="en-US" sz="2400" dirty="0" err="1"/>
              <a:t>acessibilidade</a:t>
            </a:r>
            <a:r>
              <a:rPr lang="en-US" sz="2400" dirty="0"/>
              <a:t> e a </a:t>
            </a:r>
            <a:r>
              <a:rPr lang="en-US" sz="2400" dirty="0" err="1"/>
              <a:t>estética</a:t>
            </a:r>
            <a:r>
              <a:rPr lang="en-US" sz="2400" dirty="0"/>
              <a:t>;</a:t>
            </a:r>
          </a:p>
          <a:p>
            <a:pPr algn="just">
              <a:buClr>
                <a:srgbClr val="29338A"/>
              </a:buClr>
              <a:buFont typeface="Wingdings" pitchFamily="2" charset="2"/>
              <a:buChar char="§"/>
            </a:pPr>
            <a:r>
              <a:rPr lang="en-US" sz="2400" dirty="0"/>
              <a:t> </a:t>
            </a:r>
            <a:r>
              <a:rPr lang="en-US" sz="2400" dirty="0" err="1"/>
              <a:t>Construímos</a:t>
            </a:r>
            <a:r>
              <a:rPr lang="en-US" sz="2400" dirty="0"/>
              <a:t>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história</a:t>
            </a:r>
            <a:r>
              <a:rPr lang="en-US" sz="2400" dirty="0"/>
              <a:t> </a:t>
            </a:r>
            <a:r>
              <a:rPr lang="en-US" sz="2400" dirty="0" err="1"/>
              <a:t>clara</a:t>
            </a:r>
            <a:r>
              <a:rPr lang="en-US" sz="2400" dirty="0"/>
              <a:t> e </a:t>
            </a:r>
            <a:r>
              <a:rPr lang="en-US" sz="2400" dirty="0" err="1"/>
              <a:t>objetiva</a:t>
            </a:r>
            <a:r>
              <a:rPr lang="en-US" sz="2400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F1C44-E2B7-3A9C-DC29-E773AF89E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IPG - ESTG</a:t>
            </a:r>
            <a:endParaRPr lang="pt-P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4BB08-1055-5934-4D3A-D8EE3C05D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Cristiano Patrício | comunicação e visualização da informação | 2025/26</a:t>
            </a:r>
            <a:endParaRPr lang="pt-P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165C7-2751-914C-E19B-022BE9B69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smtClean="0"/>
              <a:t>30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406600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50A3D-FEA1-8A14-6169-222BBF5A9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Antes e </a:t>
            </a:r>
            <a:r>
              <a:rPr lang="en-US" dirty="0" err="1"/>
              <a:t>Depois</a:t>
            </a:r>
            <a:endParaRPr lang="en-US" dirty="0"/>
          </a:p>
        </p:txBody>
      </p:sp>
      <p:pic>
        <p:nvPicPr>
          <p:cNvPr id="8" name="Content Placeholder 7" descr="A close-up of a graph&#10;&#10;AI-generated content may be incorrect.">
            <a:extLst>
              <a:ext uri="{FF2B5EF4-FFF2-40B4-BE49-F238E27FC236}">
                <a16:creationId xmlns:a16="http://schemas.microsoft.com/office/drawing/2014/main" id="{32F6245E-F001-DD87-BD22-9985284DA2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63" y="1935408"/>
            <a:ext cx="10058400" cy="3731721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08E9E-C74F-EE16-12DE-D6264408B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IPG - ESTG</a:t>
            </a:r>
            <a:endParaRPr lang="pt-P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B9287-8DCC-33E9-58AA-34FCA3B8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Cristiano Patrício | comunicação e visualização da informação | 2025/26</a:t>
            </a:r>
            <a:endParaRPr lang="pt-P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528A8-FC4A-D10F-398A-BC096E18A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smtClean="0"/>
              <a:t>31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711349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22589-E52B-9D91-C246-DD793D8C5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i="1" dirty="0"/>
              <a:t>Spotify Wrapped </a:t>
            </a:r>
            <a:r>
              <a:rPr lang="en-US" dirty="0"/>
              <a:t>- </a:t>
            </a:r>
            <a:r>
              <a:rPr lang="en-US" sz="3600" dirty="0"/>
              <a:t>Um </a:t>
            </a:r>
            <a:r>
              <a:rPr lang="en-US" sz="3600" dirty="0" err="1"/>
              <a:t>Exemplo</a:t>
            </a:r>
            <a:r>
              <a:rPr lang="en-US" sz="3600" dirty="0"/>
              <a:t> de Data Storytelling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D46AB-F558-A07E-A401-A04F4B4D1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33437-E377-574A-A5D9-154AD0A70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IPG - ESTG</a:t>
            </a:r>
            <a:endParaRPr lang="pt-P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20C2E-0D84-F008-31D0-BA1FF9B66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Cristiano Patrício | comunicação e visualização da informação | 2025/26</a:t>
            </a:r>
            <a:endParaRPr lang="pt-P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3FAEA-8AE7-1A8D-D761-3F006BBE6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smtClean="0"/>
              <a:t>32</a:t>
            </a:fld>
            <a:endParaRPr lang="pt-PT"/>
          </a:p>
        </p:txBody>
      </p:sp>
      <p:pic>
        <p:nvPicPr>
          <p:cNvPr id="1026" name="Picture 2" descr="2024 Spotify Wrapped Has Arrived: Here's How To Find Yours">
            <a:extLst>
              <a:ext uri="{FF2B5EF4-FFF2-40B4-BE49-F238E27FC236}">
                <a16:creationId xmlns:a16="http://schemas.microsoft.com/office/drawing/2014/main" id="{91C7B3BD-2785-DDAA-3107-894C7850F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524" y="1448349"/>
            <a:ext cx="8378952" cy="4705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5617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1A055-FD25-3A2F-3B5B-2940067C9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C502-3A24-97CB-24C7-C246B67D6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i="1" dirty="0"/>
              <a:t>Spotify Wrapped </a:t>
            </a:r>
            <a:r>
              <a:rPr lang="en-US" dirty="0"/>
              <a:t>- </a:t>
            </a:r>
            <a:r>
              <a:rPr lang="en-US" sz="3600" dirty="0"/>
              <a:t>Um </a:t>
            </a:r>
            <a:r>
              <a:rPr lang="en-US" sz="3600" dirty="0" err="1"/>
              <a:t>Exemplo</a:t>
            </a:r>
            <a:r>
              <a:rPr lang="en-US" sz="3600" dirty="0"/>
              <a:t> de Data Storytelling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8400A-DE9E-FE59-3B00-7282987AB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Clr>
                <a:srgbClr val="29338A"/>
              </a:buClr>
              <a:buFont typeface="Wingdings" pitchFamily="2" charset="2"/>
              <a:buChar char="§"/>
            </a:pPr>
            <a:r>
              <a:rPr lang="en-US" sz="2400" dirty="0"/>
              <a:t> </a:t>
            </a:r>
            <a:r>
              <a:rPr lang="en-US" sz="2400" b="1" dirty="0"/>
              <a:t>Contexto</a:t>
            </a:r>
            <a:r>
              <a:rPr lang="en-US" sz="2400" dirty="0"/>
              <a:t>: O </a:t>
            </a:r>
            <a:r>
              <a:rPr lang="en-US" sz="2400" b="1" dirty="0"/>
              <a:t>Spotify Wrapped </a:t>
            </a:r>
            <a:r>
              <a:rPr lang="en-US" sz="2400" dirty="0" err="1"/>
              <a:t>é</a:t>
            </a:r>
            <a:r>
              <a:rPr lang="en-US" sz="2400" dirty="0"/>
              <a:t>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29338A"/>
                </a:solidFill>
              </a:rPr>
              <a:t>campanha</a:t>
            </a:r>
            <a:r>
              <a:rPr lang="en-US" sz="2400" dirty="0">
                <a:solidFill>
                  <a:srgbClr val="29338A"/>
                </a:solidFill>
              </a:rPr>
              <a:t> de marketing </a:t>
            </a:r>
            <a:r>
              <a:rPr lang="en-US" sz="2400" dirty="0" err="1"/>
              <a:t>que</a:t>
            </a:r>
            <a:r>
              <a:rPr lang="en-US" sz="2400" dirty="0"/>
              <a:t> </a:t>
            </a:r>
            <a:r>
              <a:rPr lang="en-US" sz="2400" dirty="0" err="1"/>
              <a:t>permite</a:t>
            </a:r>
            <a:r>
              <a:rPr lang="en-US" sz="2400" dirty="0"/>
              <a:t> </a:t>
            </a:r>
            <a:r>
              <a:rPr lang="en-US" sz="2400" dirty="0" err="1"/>
              <a:t>aos</a:t>
            </a:r>
            <a:r>
              <a:rPr lang="en-US" sz="2400" dirty="0"/>
              <a:t> </a:t>
            </a:r>
            <a:r>
              <a:rPr lang="en-US" sz="2400" dirty="0" err="1"/>
              <a:t>utilizadores</a:t>
            </a:r>
            <a:r>
              <a:rPr lang="en-US" sz="2400" dirty="0"/>
              <a:t> do Spotify a </a:t>
            </a:r>
            <a:r>
              <a:rPr lang="en-US" sz="2400" b="1" dirty="0" err="1"/>
              <a:t>visualização</a:t>
            </a:r>
            <a:r>
              <a:rPr lang="en-US" sz="2400" b="1" dirty="0"/>
              <a:t> da </a:t>
            </a:r>
            <a:r>
              <a:rPr lang="en-US" sz="2400" b="1" dirty="0" err="1"/>
              <a:t>retrospetiva</a:t>
            </a:r>
            <a:r>
              <a:rPr lang="en-US" sz="2400" b="1" dirty="0"/>
              <a:t> de dados da </a:t>
            </a:r>
            <a:r>
              <a:rPr lang="en-US" sz="2400" b="1" dirty="0" err="1"/>
              <a:t>sua</a:t>
            </a:r>
            <a:r>
              <a:rPr lang="en-US" sz="2400" b="1" dirty="0"/>
              <a:t> </a:t>
            </a:r>
            <a:r>
              <a:rPr lang="en-US" sz="2400" b="1" dirty="0" err="1"/>
              <a:t>atividade</a:t>
            </a:r>
            <a:r>
              <a:rPr lang="en-US" sz="2400" b="1" dirty="0"/>
              <a:t> </a:t>
            </a:r>
            <a:r>
              <a:rPr lang="en-US" sz="2400" b="1" dirty="0" err="1"/>
              <a:t>na</a:t>
            </a:r>
            <a:r>
              <a:rPr lang="en-US" sz="2400" b="1" dirty="0"/>
              <a:t> Plataforma</a:t>
            </a:r>
            <a:r>
              <a:rPr lang="en-US" sz="2400" dirty="0"/>
              <a:t> </a:t>
            </a:r>
            <a:r>
              <a:rPr lang="en-US" sz="2400" dirty="0" err="1"/>
              <a:t>ao</a:t>
            </a:r>
            <a:r>
              <a:rPr lang="en-US" sz="2400" dirty="0"/>
              <a:t> </a:t>
            </a:r>
            <a:r>
              <a:rPr lang="en-US" sz="2400" dirty="0" err="1"/>
              <a:t>longo</a:t>
            </a:r>
            <a:r>
              <a:rPr lang="en-US" sz="2400" dirty="0"/>
              <a:t> do </a:t>
            </a:r>
            <a:r>
              <a:rPr lang="en-US" sz="2400" dirty="0" err="1"/>
              <a:t>último</a:t>
            </a:r>
            <a:r>
              <a:rPr lang="en-US" sz="2400" dirty="0"/>
              <a:t> </a:t>
            </a:r>
            <a:r>
              <a:rPr lang="en-US" sz="2400" dirty="0" err="1"/>
              <a:t>ano</a:t>
            </a:r>
            <a:r>
              <a:rPr lang="en-US" sz="2400" dirty="0"/>
              <a:t>, e </a:t>
            </a:r>
            <a:r>
              <a:rPr lang="en-US" sz="2400" dirty="0" err="1"/>
              <a:t>que</a:t>
            </a:r>
            <a:r>
              <a:rPr lang="en-US" sz="2400" dirty="0"/>
              <a:t> </a:t>
            </a:r>
            <a:r>
              <a:rPr lang="en-US" sz="2400" b="1" dirty="0" err="1"/>
              <a:t>convida</a:t>
            </a:r>
            <a:r>
              <a:rPr lang="en-US" sz="2400" b="1" dirty="0"/>
              <a:t> à </a:t>
            </a:r>
            <a:r>
              <a:rPr lang="en-US" sz="2400" b="1" dirty="0" err="1"/>
              <a:t>partilha</a:t>
            </a:r>
            <a:r>
              <a:rPr lang="en-US" sz="2400" b="1" dirty="0"/>
              <a:t> </a:t>
            </a:r>
            <a:r>
              <a:rPr lang="en-US" sz="2400" b="1" dirty="0" err="1"/>
              <a:t>destas</a:t>
            </a:r>
            <a:r>
              <a:rPr lang="en-US" sz="2400" b="1" dirty="0"/>
              <a:t> </a:t>
            </a:r>
            <a:r>
              <a:rPr lang="en-US" sz="2400" b="1" dirty="0" err="1"/>
              <a:t>informações</a:t>
            </a:r>
            <a:r>
              <a:rPr lang="en-US" sz="2400" b="1" dirty="0"/>
              <a:t> </a:t>
            </a:r>
            <a:r>
              <a:rPr lang="en-US" sz="2400" b="1" dirty="0" err="1"/>
              <a:t>nas</a:t>
            </a:r>
            <a:r>
              <a:rPr lang="en-US" sz="2400" b="1" dirty="0"/>
              <a:t> redes </a:t>
            </a:r>
            <a:r>
              <a:rPr lang="en-US" sz="2400" b="1" dirty="0" err="1"/>
              <a:t>sociais</a:t>
            </a:r>
            <a:r>
              <a:rPr lang="en-US" sz="2400" dirty="0"/>
              <a:t>.</a:t>
            </a:r>
          </a:p>
          <a:p>
            <a:pPr>
              <a:buClr>
                <a:srgbClr val="29338A"/>
              </a:buClr>
              <a:buFont typeface="Wingdings" pitchFamily="2" charset="2"/>
              <a:buChar char="§"/>
            </a:pPr>
            <a:r>
              <a:rPr lang="en-US" sz="2400" dirty="0"/>
              <a:t> O Spotify </a:t>
            </a:r>
            <a:r>
              <a:rPr lang="en-US" sz="2400" dirty="0" err="1"/>
              <a:t>analiza</a:t>
            </a:r>
            <a:r>
              <a:rPr lang="en-US" sz="2400" dirty="0"/>
              <a:t> </a:t>
            </a:r>
            <a:r>
              <a:rPr lang="en-US" sz="2400" dirty="0" err="1"/>
              <a:t>os</a:t>
            </a:r>
            <a:r>
              <a:rPr lang="en-US" sz="2400" dirty="0"/>
              <a:t> dados de </a:t>
            </a:r>
            <a:r>
              <a:rPr lang="en-US" sz="2400" dirty="0" err="1"/>
              <a:t>cada</a:t>
            </a:r>
            <a:r>
              <a:rPr lang="en-US" sz="2400" dirty="0"/>
              <a:t> </a:t>
            </a:r>
            <a:r>
              <a:rPr lang="en-US" sz="2400" dirty="0" err="1"/>
              <a:t>utilizador</a:t>
            </a:r>
            <a:r>
              <a:rPr lang="en-US" sz="2400" dirty="0"/>
              <a:t> e devolve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narrativa</a:t>
            </a:r>
            <a:r>
              <a:rPr lang="en-US" sz="2400" dirty="0"/>
              <a:t> </a:t>
            </a:r>
            <a:r>
              <a:rPr lang="en-US" sz="2400" dirty="0" err="1"/>
              <a:t>personalizada</a:t>
            </a:r>
            <a:r>
              <a:rPr lang="en-US" sz="2400" dirty="0"/>
              <a:t>: </a:t>
            </a:r>
            <a:r>
              <a:rPr lang="en-US" sz="2400" dirty="0" err="1"/>
              <a:t>minutos</a:t>
            </a:r>
            <a:r>
              <a:rPr lang="en-US" sz="2400" dirty="0"/>
              <a:t> </a:t>
            </a:r>
            <a:r>
              <a:rPr lang="en-US" sz="2400" dirty="0" err="1"/>
              <a:t>ouvidos</a:t>
            </a:r>
            <a:r>
              <a:rPr lang="en-US" sz="2400" dirty="0"/>
              <a:t>, </a:t>
            </a:r>
            <a:r>
              <a:rPr lang="en-US" sz="2400" dirty="0" err="1"/>
              <a:t>artistas</a:t>
            </a:r>
            <a:r>
              <a:rPr lang="en-US" sz="2400" dirty="0"/>
              <a:t> </a:t>
            </a:r>
            <a:r>
              <a:rPr lang="en-US" sz="2400" dirty="0" err="1"/>
              <a:t>favoritos</a:t>
            </a:r>
            <a:r>
              <a:rPr lang="en-US" sz="2400" dirty="0"/>
              <a:t>, </a:t>
            </a:r>
            <a:r>
              <a:rPr lang="en-US" sz="2400" dirty="0" err="1"/>
              <a:t>músicas</a:t>
            </a:r>
            <a:r>
              <a:rPr lang="en-US" sz="2400" dirty="0"/>
              <a:t> </a:t>
            </a:r>
            <a:r>
              <a:rPr lang="en-US" sz="2400" dirty="0" err="1"/>
              <a:t>favoritas</a:t>
            </a:r>
            <a:r>
              <a:rPr lang="en-US" sz="2400" dirty="0"/>
              <a:t>, etc.</a:t>
            </a:r>
          </a:p>
          <a:p>
            <a:pPr>
              <a:buClr>
                <a:srgbClr val="29338A"/>
              </a:buClr>
              <a:buFont typeface="Wingdings" pitchFamily="2" charset="2"/>
              <a:buChar char="§"/>
            </a:pPr>
            <a:r>
              <a:rPr lang="en-US" sz="2400" dirty="0"/>
              <a:t> </a:t>
            </a:r>
            <a:r>
              <a:rPr lang="en-US" sz="2400" b="1" dirty="0" err="1"/>
              <a:t>Elementos</a:t>
            </a:r>
            <a:r>
              <a:rPr lang="en-US" sz="2400" b="1" dirty="0"/>
              <a:t> de Storytelling</a:t>
            </a:r>
            <a:r>
              <a:rPr lang="en-US" sz="2400" dirty="0"/>
              <a:t>:</a:t>
            </a:r>
          </a:p>
          <a:p>
            <a:pPr lvl="1"/>
            <a:r>
              <a:rPr lang="en-US" sz="2200" i="1" dirty="0" err="1">
                <a:highlight>
                  <a:srgbClr val="FFFF00"/>
                </a:highlight>
              </a:rPr>
              <a:t>Personagem</a:t>
            </a:r>
            <a:r>
              <a:rPr lang="en-US" sz="2200" dirty="0"/>
              <a:t>: </a:t>
            </a:r>
            <a:r>
              <a:rPr lang="en-US" sz="2200" dirty="0" err="1"/>
              <a:t>utilizador</a:t>
            </a:r>
            <a:endParaRPr lang="en-US" sz="2200" dirty="0"/>
          </a:p>
          <a:p>
            <a:pPr lvl="1"/>
            <a:r>
              <a:rPr lang="en-US" sz="2200" i="1" dirty="0">
                <a:highlight>
                  <a:srgbClr val="FFFF00"/>
                </a:highlight>
              </a:rPr>
              <a:t>Dados</a:t>
            </a:r>
            <a:r>
              <a:rPr lang="en-US" sz="2200" i="1" dirty="0"/>
              <a:t>: </a:t>
            </a:r>
            <a:r>
              <a:rPr lang="en-US" sz="2200" dirty="0" err="1"/>
              <a:t>minutos</a:t>
            </a:r>
            <a:r>
              <a:rPr lang="en-US" sz="2200" dirty="0"/>
              <a:t> </a:t>
            </a:r>
            <a:r>
              <a:rPr lang="en-US" sz="2200" dirty="0" err="1"/>
              <a:t>ouvidos</a:t>
            </a:r>
            <a:r>
              <a:rPr lang="en-US" sz="2200" dirty="0"/>
              <a:t>, top </a:t>
            </a:r>
            <a:r>
              <a:rPr lang="en-US" sz="2200" dirty="0" err="1"/>
              <a:t>artistas</a:t>
            </a:r>
            <a:r>
              <a:rPr lang="en-US" sz="2200" dirty="0"/>
              <a:t>, top </a:t>
            </a:r>
            <a:r>
              <a:rPr lang="en-US" sz="2200" dirty="0" err="1"/>
              <a:t>músicas</a:t>
            </a:r>
            <a:r>
              <a:rPr lang="en-US" sz="2200" dirty="0"/>
              <a:t>, </a:t>
            </a:r>
          </a:p>
          <a:p>
            <a:pPr marL="201168" lvl="1" indent="0">
              <a:buNone/>
            </a:pPr>
            <a:r>
              <a:rPr lang="en-US" sz="2200" dirty="0" err="1"/>
              <a:t>géneros</a:t>
            </a:r>
            <a:endParaRPr lang="en-US" sz="2200" i="1" dirty="0"/>
          </a:p>
          <a:p>
            <a:pPr lvl="1"/>
            <a:r>
              <a:rPr lang="en-US" sz="2200" i="1" dirty="0" err="1">
                <a:highlight>
                  <a:srgbClr val="FFFF00"/>
                </a:highlight>
              </a:rPr>
              <a:t>Narrativa</a:t>
            </a:r>
            <a:r>
              <a:rPr lang="en-US" sz="2200" dirty="0"/>
              <a:t>: </a:t>
            </a:r>
            <a:r>
              <a:rPr lang="en-US" sz="2200" dirty="0" err="1"/>
              <a:t>evolução</a:t>
            </a:r>
            <a:r>
              <a:rPr lang="en-US" sz="2200" dirty="0"/>
              <a:t> musical </a:t>
            </a:r>
            <a:r>
              <a:rPr lang="en-US" sz="2200" dirty="0" err="1"/>
              <a:t>ao</a:t>
            </a:r>
            <a:r>
              <a:rPr lang="en-US" sz="2200" dirty="0"/>
              <a:t> </a:t>
            </a:r>
            <a:r>
              <a:rPr lang="en-US" sz="2200" dirty="0" err="1"/>
              <a:t>longo</a:t>
            </a:r>
            <a:r>
              <a:rPr lang="en-US" sz="2200" dirty="0"/>
              <a:t> do </a:t>
            </a:r>
            <a:r>
              <a:rPr lang="en-US" sz="2200" dirty="0" err="1"/>
              <a:t>ano</a:t>
            </a:r>
            <a:endParaRPr lang="en-US" sz="2200" dirty="0"/>
          </a:p>
          <a:p>
            <a:pPr lvl="1"/>
            <a:r>
              <a:rPr lang="en-US" sz="2200" i="1" dirty="0" err="1">
                <a:highlight>
                  <a:srgbClr val="FFFF00"/>
                </a:highlight>
              </a:rPr>
              <a:t>Ação</a:t>
            </a:r>
            <a:r>
              <a:rPr lang="en-US" sz="2200" i="1" dirty="0"/>
              <a:t>: </a:t>
            </a:r>
            <a:r>
              <a:rPr lang="en-US" sz="2200" dirty="0" err="1"/>
              <a:t>partilha</a:t>
            </a:r>
            <a:r>
              <a:rPr lang="en-US" sz="2200" dirty="0"/>
              <a:t> </a:t>
            </a:r>
            <a:r>
              <a:rPr lang="en-US" sz="2200" dirty="0" err="1"/>
              <a:t>nas</a:t>
            </a:r>
            <a:r>
              <a:rPr lang="en-US" sz="2200" dirty="0"/>
              <a:t> redes </a:t>
            </a:r>
            <a:r>
              <a:rPr lang="en-US" sz="2200" dirty="0" err="1"/>
              <a:t>sociais</a:t>
            </a:r>
            <a:endParaRPr lang="en-US" sz="22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A3A84-2773-BBD5-27D6-1F7C4985E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IPG - ESTG</a:t>
            </a:r>
            <a:endParaRPr lang="pt-P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877EE-D159-DF18-0940-42E047314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Cristiano Patrício | comunicação e visualização da informação | 2025/26</a:t>
            </a:r>
            <a:endParaRPr lang="pt-P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4F328-8952-B0CF-99C6-7397C5C6A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smtClean="0"/>
              <a:t>33</a:t>
            </a:fld>
            <a:endParaRPr lang="pt-PT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8C80F83-F633-A868-B793-13A29F2B2CAA}"/>
              </a:ext>
            </a:extLst>
          </p:cNvPr>
          <p:cNvSpPr/>
          <p:nvPr/>
        </p:nvSpPr>
        <p:spPr>
          <a:xfrm>
            <a:off x="7883698" y="4200679"/>
            <a:ext cx="4033520" cy="1386325"/>
          </a:xfrm>
          <a:prstGeom prst="roundRect">
            <a:avLst>
              <a:gd name="adj" fmla="val 6343"/>
            </a:avLst>
          </a:prstGeom>
          <a:solidFill>
            <a:schemeClr val="bg2"/>
          </a:solidFill>
          <a:ln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PT" sz="24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Para </a:t>
            </a:r>
            <a:r>
              <a:rPr lang="pt-PT" sz="2400" b="1" noProof="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Abadi" panose="020B0604020104020204" pitchFamily="34" charset="0"/>
              </a:rPr>
              <a:t>quem</a:t>
            </a:r>
            <a:r>
              <a:rPr lang="pt-PT" sz="24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 vou comunicar?</a:t>
            </a:r>
          </a:p>
          <a:p>
            <a:pPr algn="just"/>
            <a:r>
              <a:rPr lang="pt-PT" sz="2400" b="1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Abadi" panose="020B0604020104020204" pitchFamily="34" charset="0"/>
              </a:rPr>
              <a:t>O quê</a:t>
            </a:r>
            <a:r>
              <a:rPr lang="pt-PT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?</a:t>
            </a:r>
          </a:p>
          <a:p>
            <a:pPr algn="just"/>
            <a:r>
              <a:rPr lang="pt-PT" sz="2400" b="1" noProof="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Abadi" panose="020B0604020104020204" pitchFamily="34" charset="0"/>
              </a:rPr>
              <a:t>Como</a:t>
            </a:r>
            <a:r>
              <a:rPr lang="pt-PT" sz="24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62314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294FC-CA48-29E7-AF15-94AE56ACB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✍️ </a:t>
            </a:r>
            <a:r>
              <a:rPr lang="en-US" dirty="0" err="1"/>
              <a:t>Exercício</a:t>
            </a:r>
            <a:r>
              <a:rPr lang="en-US" dirty="0"/>
              <a:t> </a:t>
            </a:r>
            <a:r>
              <a:rPr lang="en-US" dirty="0" err="1"/>
              <a:t>Prático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13ABD-C987-AA33-5BE5-0186D135A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29338A"/>
              </a:buClr>
              <a:buFont typeface="Wingdings" pitchFamily="2" charset="2"/>
              <a:buChar char="§"/>
            </a:pPr>
            <a:r>
              <a:rPr lang="en-US" sz="2400" dirty="0"/>
              <a:t> </a:t>
            </a:r>
            <a:r>
              <a:rPr lang="en-US" sz="2400" b="1" dirty="0" err="1"/>
              <a:t>Objetivo</a:t>
            </a:r>
            <a:r>
              <a:rPr lang="en-US" sz="2400" dirty="0"/>
              <a:t>: </a:t>
            </a:r>
            <a:r>
              <a:rPr lang="en-US" sz="2400" dirty="0" err="1"/>
              <a:t>Criar</a:t>
            </a:r>
            <a:r>
              <a:rPr lang="en-US" sz="2400" dirty="0"/>
              <a:t> um </a:t>
            </a:r>
            <a:r>
              <a:rPr lang="en-US" sz="2400" i="1" dirty="0"/>
              <a:t>mini-wrapped</a:t>
            </a:r>
          </a:p>
          <a:p>
            <a:pPr>
              <a:buClr>
                <a:srgbClr val="29338A"/>
              </a:buClr>
              <a:buFont typeface="Wingdings" pitchFamily="2" charset="2"/>
              <a:buChar char="§"/>
            </a:pPr>
            <a:r>
              <a:rPr lang="en-US" sz="2400" dirty="0"/>
              <a:t> Cada </a:t>
            </a:r>
            <a:r>
              <a:rPr lang="en-US" sz="2400" dirty="0" err="1"/>
              <a:t>aluno</a:t>
            </a:r>
            <a:r>
              <a:rPr lang="en-US" sz="2400" dirty="0"/>
              <a:t> </a:t>
            </a:r>
            <a:r>
              <a:rPr lang="en-US" sz="2400" dirty="0" err="1"/>
              <a:t>vai</a:t>
            </a:r>
            <a:r>
              <a:rPr lang="en-US" sz="2400" dirty="0"/>
              <a:t> </a:t>
            </a:r>
            <a:r>
              <a:rPr lang="en-US" sz="2400" dirty="0" err="1"/>
              <a:t>registar</a:t>
            </a:r>
            <a:r>
              <a:rPr lang="en-US" sz="2400" dirty="0"/>
              <a:t> 3 dados </a:t>
            </a:r>
            <a:r>
              <a:rPr lang="en-US" sz="2400" dirty="0" err="1"/>
              <a:t>pessoais</a:t>
            </a:r>
            <a:r>
              <a:rPr lang="en-US" sz="2400" dirty="0"/>
              <a:t> (</a:t>
            </a:r>
            <a:r>
              <a:rPr lang="en-US" sz="2400" b="1" dirty="0"/>
              <a:t>horas </a:t>
            </a:r>
            <a:r>
              <a:rPr lang="en-US" sz="2400" b="1" dirty="0" err="1"/>
              <a:t>semanais</a:t>
            </a:r>
            <a:r>
              <a:rPr lang="en-US" sz="2400" b="1" dirty="0"/>
              <a:t> de Netflix/</a:t>
            </a:r>
            <a:r>
              <a:rPr lang="en-US" sz="2400" b="1" dirty="0" err="1"/>
              <a:t>Outra</a:t>
            </a:r>
            <a:r>
              <a:rPr lang="en-US" sz="2400" b="1" dirty="0"/>
              <a:t> </a:t>
            </a:r>
            <a:r>
              <a:rPr lang="en-US" sz="2400" b="1" dirty="0" err="1"/>
              <a:t>plataforma</a:t>
            </a:r>
            <a:r>
              <a:rPr lang="en-US" sz="2400" dirty="0"/>
              <a:t>, </a:t>
            </a:r>
            <a:r>
              <a:rPr lang="en-US" sz="2400" b="1" dirty="0"/>
              <a:t>Kms </a:t>
            </a:r>
            <a:r>
              <a:rPr lang="en-US" sz="2400" b="1" dirty="0" err="1"/>
              <a:t>percorridos</a:t>
            </a:r>
            <a:r>
              <a:rPr lang="en-US" sz="2400" b="1" dirty="0"/>
              <a:t>/</a:t>
            </a:r>
            <a:r>
              <a:rPr lang="en-US" sz="2400" b="1" dirty="0" err="1"/>
              <a:t>dia</a:t>
            </a:r>
            <a:r>
              <a:rPr lang="en-US" sz="2400" dirty="0"/>
              <a:t>, </a:t>
            </a:r>
            <a:r>
              <a:rPr lang="en-US" sz="2400" b="1" dirty="0" err="1"/>
              <a:t>Número</a:t>
            </a:r>
            <a:r>
              <a:rPr lang="en-US" sz="2400" b="1" dirty="0"/>
              <a:t> de cafés </a:t>
            </a:r>
            <a:r>
              <a:rPr lang="en-US" sz="2400" b="1" dirty="0" err="1"/>
              <a:t>por</a:t>
            </a:r>
            <a:r>
              <a:rPr lang="en-US" sz="2400" b="1" dirty="0"/>
              <a:t> </a:t>
            </a:r>
            <a:r>
              <a:rPr lang="en-US" sz="2400" b="1" dirty="0" err="1"/>
              <a:t>dia</a:t>
            </a:r>
            <a:r>
              <a:rPr lang="en-US" sz="2400" dirty="0"/>
              <a:t>).</a:t>
            </a:r>
          </a:p>
          <a:p>
            <a:pPr>
              <a:buClr>
                <a:srgbClr val="29338A"/>
              </a:buClr>
              <a:buFont typeface="Wingdings" pitchFamily="2" charset="2"/>
              <a:buChar char="§"/>
            </a:pPr>
            <a:r>
              <a:rPr lang="en-US" sz="2400" dirty="0"/>
              <a:t> </a:t>
            </a:r>
            <a:r>
              <a:rPr lang="en-US" sz="2400" dirty="0" err="1"/>
              <a:t>Criar</a:t>
            </a:r>
            <a:r>
              <a:rPr lang="en-US" sz="2400" dirty="0"/>
              <a:t>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visualização</a:t>
            </a:r>
            <a:r>
              <a:rPr lang="en-US" sz="2400" dirty="0"/>
              <a:t> simples no Google Slides (Template no SIGARRA).</a:t>
            </a:r>
          </a:p>
          <a:p>
            <a:pPr>
              <a:buClr>
                <a:srgbClr val="29338A"/>
              </a:buClr>
              <a:buFont typeface="Wingdings" pitchFamily="2" charset="2"/>
              <a:buChar char="§"/>
            </a:pPr>
            <a:r>
              <a:rPr lang="en-US" sz="2400" dirty="0"/>
              <a:t> </a:t>
            </a:r>
            <a:r>
              <a:rPr lang="en-US" sz="2400" dirty="0" err="1"/>
              <a:t>Escrever</a:t>
            </a:r>
            <a:r>
              <a:rPr lang="en-US" sz="2400" dirty="0"/>
              <a:t>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frase</a:t>
            </a:r>
            <a:r>
              <a:rPr lang="en-US" sz="2400" dirty="0"/>
              <a:t> (</a:t>
            </a:r>
            <a:r>
              <a:rPr lang="en-US" sz="2400" dirty="0" err="1"/>
              <a:t>narrativa</a:t>
            </a:r>
            <a:r>
              <a:rPr lang="en-US" sz="2400" dirty="0"/>
              <a:t>) </a:t>
            </a:r>
            <a:r>
              <a:rPr lang="en-US" sz="2400" dirty="0" err="1"/>
              <a:t>que</a:t>
            </a:r>
            <a:r>
              <a:rPr lang="en-US" sz="2400" dirty="0"/>
              <a:t> </a:t>
            </a:r>
            <a:r>
              <a:rPr lang="en-US" sz="2400" dirty="0" err="1"/>
              <a:t>transforme</a:t>
            </a:r>
            <a:r>
              <a:rPr lang="en-US" sz="2400" dirty="0"/>
              <a:t> </a:t>
            </a:r>
            <a:r>
              <a:rPr lang="en-US" sz="2400" dirty="0" err="1"/>
              <a:t>os</a:t>
            </a:r>
            <a:r>
              <a:rPr lang="en-US" sz="2400" dirty="0"/>
              <a:t> dados </a:t>
            </a:r>
            <a:r>
              <a:rPr lang="en-US" sz="2400" dirty="0" err="1"/>
              <a:t>em</a:t>
            </a:r>
            <a:r>
              <a:rPr lang="en-US" sz="2400" dirty="0"/>
              <a:t> </a:t>
            </a:r>
            <a:r>
              <a:rPr lang="en-US" sz="2400" dirty="0" err="1"/>
              <a:t>identidade</a:t>
            </a:r>
            <a:r>
              <a:rPr lang="en-US" sz="2400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E2ACF-909F-AC07-14CB-795417AAD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IPG - ESTG</a:t>
            </a:r>
            <a:endParaRPr lang="pt-P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0562F-4F34-CFEB-0671-48FF75A5C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Cristiano Patrício | comunicação e visualização da informação | 2025/26</a:t>
            </a:r>
            <a:endParaRPr lang="pt-P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BFFD0-DF31-9D8D-3B81-4AAC31CA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smtClean="0"/>
              <a:t>34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269939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E0B9434-57A5-7A6A-588F-C85A0F4CF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noProof="0" dirty="0"/>
              <a:t>IPG - ESTG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4737139-7F80-990B-AF0B-9D449F178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noProof="0" dirty="0"/>
              <a:t>Cristiano Patrício | comunicação e visualização da informação | 2025/26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BD177DC-BCB4-918F-2FE5-17AF5DD75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5005-D886-44EC-A52E-28847065D9B3}" type="slidenum">
              <a:rPr lang="pt-PT" noProof="0" smtClean="0"/>
              <a:t>35</a:t>
            </a:fld>
            <a:endParaRPr lang="pt-PT" noProof="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B77203B-DB77-1C4C-576A-5CF880EE429C}"/>
              </a:ext>
            </a:extLst>
          </p:cNvPr>
          <p:cNvSpPr txBox="1">
            <a:spLocks/>
          </p:cNvSpPr>
          <p:nvPr/>
        </p:nvSpPr>
        <p:spPr>
          <a:xfrm>
            <a:off x="1066799" y="0"/>
            <a:ext cx="100584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noProof="0" dirty="0">
                <a:latin typeface="Abadi" panose="020B0604020104020204" pitchFamily="34" charset="0"/>
              </a:rPr>
              <a:t>Questões?</a:t>
            </a:r>
          </a:p>
        </p:txBody>
      </p:sp>
      <p:pic>
        <p:nvPicPr>
          <p:cNvPr id="8" name="Marcador de Posição de Conteúdo 7">
            <a:extLst>
              <a:ext uri="{FF2B5EF4-FFF2-40B4-BE49-F238E27FC236}">
                <a16:creationId xmlns:a16="http://schemas.microsoft.com/office/drawing/2014/main" id="{ADCBD200-A60B-342E-9502-BB3E83F79AA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29338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637" y="1873966"/>
            <a:ext cx="4022725" cy="402272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1B5C79B4-C048-A077-4DBC-698F82641BDB}"/>
              </a:ext>
            </a:extLst>
          </p:cNvPr>
          <p:cNvSpPr txBox="1"/>
          <p:nvPr/>
        </p:nvSpPr>
        <p:spPr>
          <a:xfrm>
            <a:off x="3047287" y="1362718"/>
            <a:ext cx="6097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noProof="0" dirty="0" err="1">
                <a:solidFill>
                  <a:schemeClr val="bg1">
                    <a:lumMod val="85000"/>
                  </a:schemeClr>
                </a:solidFill>
                <a:latin typeface="Abadi" panose="020B0604020104020204" pitchFamily="34" charset="0"/>
              </a:rPr>
              <a:t>cristiano.patricio@ipg.pt</a:t>
            </a:r>
            <a:endParaRPr lang="pt-PT" noProof="0" dirty="0">
              <a:solidFill>
                <a:schemeClr val="bg1">
                  <a:lumMod val="85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55477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iva">
  <a:themeElements>
    <a:clrScheme name="Personalizado 2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F8863D"/>
      </a:accent1>
      <a:accent2>
        <a:srgbClr val="F8863D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2811</TotalTime>
  <Words>1926</Words>
  <Application>Microsoft Macintosh PowerPoint</Application>
  <PresentationFormat>Widescreen</PresentationFormat>
  <Paragraphs>227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Abadi</vt:lpstr>
      <vt:lpstr>Calibri</vt:lpstr>
      <vt:lpstr>Calibri Light</vt:lpstr>
      <vt:lpstr>Wingdings</vt:lpstr>
      <vt:lpstr>Retrospetiva</vt:lpstr>
      <vt:lpstr>Comunicação e Visualização da Informação</vt:lpstr>
      <vt:lpstr>Agenda</vt:lpstr>
      <vt:lpstr>O processo da narrativa com dados</vt:lpstr>
      <vt:lpstr>Estudo de caso</vt:lpstr>
      <vt:lpstr>Lição 1: Entender o contexto</vt:lpstr>
      <vt:lpstr>Lição 1: Entender o contexto</vt:lpstr>
      <vt:lpstr>3-minute story</vt:lpstr>
      <vt:lpstr>Storyboard</vt:lpstr>
      <vt:lpstr>Lição 2: Escolher uma representação adequada </vt:lpstr>
      <vt:lpstr>Lição 2: Escolher uma representação adequada </vt:lpstr>
      <vt:lpstr>Lição 2: Escolher uma representação adequada </vt:lpstr>
      <vt:lpstr>Lição 2: Escolher uma representação adequada </vt:lpstr>
      <vt:lpstr>Lição 2: Escolher uma representação adequada </vt:lpstr>
      <vt:lpstr>Lição 3: Eliminar a desordem</vt:lpstr>
      <vt:lpstr>Lição 3: Eliminar a desordem</vt:lpstr>
      <vt:lpstr>Lição 4: Dirigir a atenção</vt:lpstr>
      <vt:lpstr>Lição 4: Dirigir a atenção</vt:lpstr>
      <vt:lpstr>Lição 4: Dirigir a atenção</vt:lpstr>
      <vt:lpstr>Lição 5: Pensar como um designer</vt:lpstr>
      <vt:lpstr>Lição 5: Pensar como um designer</vt:lpstr>
      <vt:lpstr>Lição 6: Contar a história</vt:lpstr>
      <vt:lpstr>Lição 6: Contar a história</vt:lpstr>
      <vt:lpstr>Lição 6: Contar a história</vt:lpstr>
      <vt:lpstr>Lição 6: Contar a história</vt:lpstr>
      <vt:lpstr>Lição 6: Contar a história</vt:lpstr>
      <vt:lpstr>Lição 6: Contar a história</vt:lpstr>
      <vt:lpstr>Lição 6: Contar a história</vt:lpstr>
      <vt:lpstr>Lição 6: Contar a história</vt:lpstr>
      <vt:lpstr>Lição 6: Contar a história</vt:lpstr>
      <vt:lpstr>Resumo</vt:lpstr>
      <vt:lpstr>Antes e Depois</vt:lpstr>
      <vt:lpstr>Spotify Wrapped - Um Exemplo de Data Storytelling</vt:lpstr>
      <vt:lpstr>Spotify Wrapped - Um Exemplo de Data Storytelling</vt:lpstr>
      <vt:lpstr>✍️ Exercício Prático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Tecnologias de Informação e Comunicação</dc:title>
  <dc:creator>Cristiano Patrício</dc:creator>
  <cp:lastModifiedBy>Cristiano Pires Patrício</cp:lastModifiedBy>
  <cp:revision>188</cp:revision>
  <cp:lastPrinted>2025-11-23T14:51:42Z</cp:lastPrinted>
  <dcterms:created xsi:type="dcterms:W3CDTF">2021-10-28T21:55:23Z</dcterms:created>
  <dcterms:modified xsi:type="dcterms:W3CDTF">2025-12-03T14:34:43Z</dcterms:modified>
</cp:coreProperties>
</file>